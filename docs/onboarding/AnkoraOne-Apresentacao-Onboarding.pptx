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" id="{4bdba960-c940-bedd-b8ff-65a0817df64c}">
          <p14:sldIdLst>
            <p14:sldId id="256"/>
            <p14:sldId id="257"/>
            <p14:sldId id="258"/>
            <p14:sldId id="259"/>
            <p14:sldId id="260"/>
            <p14:sldId id="261"/>
          </p14:sldIdLst>
        </p14:section>
        <p14:section name="Navegar e trabalhar" id="{2a0ec043-9f62-6884-d72d-9323602e426e}">
          <p14:sldIdLst>
            <p14:sldId id="262"/>
            <p14:sldId id="263"/>
            <p14:sldId id="264"/>
            <p14:sldId id="265"/>
            <p14:sldId id="266"/>
            <p14:sldId id="267"/>
            <p14:sldId id="268"/>
          </p14:sldIdLst>
        </p14:section>
        <p14:section name="Guia por referencial" id="{b5d10f21-63c1-2877-7256-d7894a7ad04c}">
          <p14:sldIdLst>
            <p14:sldId id="269"/>
            <p14:sldId id="270"/>
            <p14:sldId id="271"/>
            <p14:sldId id="272"/>
            <p14:sldId id="273"/>
          </p14:sldIdLst>
        </p14:section>
        <p14:section name="Fecho" id="{8c70fa58-36e7-c151-a1a0-6de7e719e8ec}">
          <p14:sldIdLst>
            <p14:sldId id="274"/>
            <p14:sldId id="27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Apresentação de arranque para novos clientes. Duração prevista: 30 a 40 minutos.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rgbClr val="070A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640080"/>
            <a:ext cx="2377440" cy="539496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2468880"/>
            <a:ext cx="100584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400" b="1" spc="400" kern="0" dirty="0">
                <a:solidFill>
                  <a:schemeClr val="accent1"/>
                </a:solidFill>
              </a:defRPr>
            </a:lvl1pPr>
          </a:lstStyle>
          <a:p>
            <a:pPr indent="0" marL="0">
              <a:buNone/>
            </a:pPr>
            <a:endParaRPr lang="en-US" sz="1400" dirty="0"/>
          </a:p>
        </p:txBody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731520" y="2880360"/>
            <a:ext cx="1051560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731520" y="4160520"/>
            <a:ext cx="86868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rgbClr val="C9CFDA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CAO">
    <p:bg>
      <p:bgPr>
        <a:solidFill>
          <a:srgbClr val="070A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41280" y="6172200"/>
            <a:ext cx="1463040" cy="329184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2377440"/>
            <a:ext cx="100584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400" b="1" spc="400" kern="0" dirty="0">
                <a:solidFill>
                  <a:schemeClr val="accent1"/>
                </a:solidFill>
              </a:defRPr>
            </a:lvl1pPr>
          </a:lstStyle>
          <a:p>
            <a:pPr indent="0" marL="0">
              <a:buNone/>
            </a:pPr>
            <a:endParaRPr lang="en-US" sz="1400" dirty="0"/>
          </a:p>
        </p:txBody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731520" y="2788920"/>
            <a:ext cx="105156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731520" y="3931920"/>
            <a:ext cx="914400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rgbClr val="C9CFDA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31520" y="626364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892A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69880" y="6291072"/>
            <a:ext cx="1188720" cy="27432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0936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47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31520" y="626364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892A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731520" y="24688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chemeClr val="accent1"/>
                </a:solidFill>
              </a:rPr>
              <a:t>ONBOARDING DE NOVOS CLIENTES</a:t>
            </a:r>
            <a:endParaRPr lang="en-US" sz="14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731520" y="288036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Começar a trabalhar na AnkoraOne</a:t>
            </a:r>
            <a:endParaRPr lang="en-US" sz="4400" dirty="0"/>
          </a:p>
        </p:txBody>
      </p:sp>
      <p:sp>
        <p:nvSpPr>
          <p:cNvPr id="4" name="Text 0"/>
          <p:cNvSpPr/>
          <p:nvPr>
            <p:ph idx="103" type="body" hasCustomPrompt="1"/>
          </p:nvPr>
        </p:nvSpPr>
        <p:spPr>
          <a:xfrm>
            <a:off x="731520" y="4160520"/>
            <a:ext cx="8686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9CFDA"/>
                </a:solidFill>
              </a:rPr>
              <a:t>Regime Jurídico da Cibersegurança (NIS2), ISO/IEC 27001 e ISO/IEC 42001: criação da conta, navegação, uso diário e guia por referencial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562356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CFA04A"/>
                </a:solidFill>
              </a:rPr>
              <a:t>AnkoraOne: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a infraestrutura inteligente de governação, risco e conformidade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60350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FA04A"/>
                </a:solidFill>
              </a:rPr>
              <a:t>app.ankoraone.com  ·  versão 1.2  ·  outubro de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A conformidade da sua organização num só sítio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3444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6474"/>
                </a:solidFill>
              </a:rPr>
              <a:t>Tudo o que a plataforma pede vem dos textos oficiais: DL 125/2025, Regulamento do CNCS n.º 756/2026 e Diretiva NIS2.</a:t>
            </a:r>
            <a:endParaRPr lang="en-US" sz="1600" dirty="0"/>
          </a:p>
        </p:txBody>
      </p:sp>
      <p:sp>
        <p:nvSpPr>
          <p:cNvPr id="4" name="card-1"/>
          <p:cNvSpPr/>
          <p:nvPr/>
        </p:nvSpPr>
        <p:spPr>
          <a:xfrm>
            <a:off x="548640" y="192024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" name="icon-bg-2"/>
          <p:cNvSpPr/>
          <p:nvPr/>
        </p:nvSpPr>
        <p:spPr>
          <a:xfrm>
            <a:off x="822960" y="2194560"/>
            <a:ext cx="640080" cy="64008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6" name="icon-2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3778" y="2335378"/>
            <a:ext cx="358445" cy="358445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00200" y="2304288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11827"/>
                </a:solidFill>
              </a:rPr>
              <a:t>Enquadramento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97180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474"/>
                </a:solidFill>
              </a:rPr>
              <a:t>Qualificação e nível de conformidade, com a base legal de cada conclusão</a:t>
            </a:r>
            <a:endParaRPr lang="en-US" sz="1300" dirty="0"/>
          </a:p>
        </p:txBody>
      </p:sp>
      <p:sp>
        <p:nvSpPr>
          <p:cNvPr id="9" name="card-3"/>
          <p:cNvSpPr/>
          <p:nvPr/>
        </p:nvSpPr>
        <p:spPr>
          <a:xfrm>
            <a:off x="4297680" y="192024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" name="icon-bg-4"/>
          <p:cNvSpPr/>
          <p:nvPr/>
        </p:nvSpPr>
        <p:spPr>
          <a:xfrm>
            <a:off x="4572000" y="2194560"/>
            <a:ext cx="640080" cy="64008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11" name="icon-4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12818" y="2335378"/>
            <a:ext cx="358445" cy="358445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349240" y="2304288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11827"/>
                </a:solidFill>
              </a:rPr>
              <a:t>Jornada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4572000" y="297180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474"/>
                </a:solidFill>
              </a:rPr>
              <a:t>As tarefas que a lei pede, por ordem e com os prazos</a:t>
            </a:r>
            <a:endParaRPr lang="en-US" sz="1300" dirty="0"/>
          </a:p>
        </p:txBody>
      </p:sp>
      <p:sp>
        <p:nvSpPr>
          <p:cNvPr id="14" name="card-5"/>
          <p:cNvSpPr/>
          <p:nvPr/>
        </p:nvSpPr>
        <p:spPr>
          <a:xfrm>
            <a:off x="8046720" y="192024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5" name="icon-bg-6"/>
          <p:cNvSpPr/>
          <p:nvPr/>
        </p:nvSpPr>
        <p:spPr>
          <a:xfrm>
            <a:off x="8321040" y="2194560"/>
            <a:ext cx="640080" cy="64008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16" name="icon-6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61858" y="2335378"/>
            <a:ext cx="358445" cy="358445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9098280" y="2304288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11827"/>
                </a:solidFill>
              </a:rPr>
              <a:t>Medidas mínimas</a:t>
            </a:r>
            <a:endParaRPr lang="en-US" sz="1700" dirty="0"/>
          </a:p>
        </p:txBody>
      </p:sp>
      <p:sp>
        <p:nvSpPr>
          <p:cNvPr id="18" name="Text 13"/>
          <p:cNvSpPr txBox="1"/>
          <p:nvPr/>
        </p:nvSpPr>
        <p:spPr>
          <a:xfrm>
            <a:off x="8321040" y="297180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474"/>
                </a:solidFill>
              </a:rPr>
              <a:t>O que cumprir no seu nível e o que guardar como evidência</a:t>
            </a:r>
            <a:endParaRPr lang="en-US" sz="1300" dirty="0"/>
          </a:p>
        </p:txBody>
      </p:sp>
      <p:sp>
        <p:nvSpPr>
          <p:cNvPr id="19" name="card-7"/>
          <p:cNvSpPr/>
          <p:nvPr/>
        </p:nvSpPr>
        <p:spPr>
          <a:xfrm>
            <a:off x="548640" y="402336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0" name="icon-bg-8"/>
          <p:cNvSpPr/>
          <p:nvPr/>
        </p:nvSpPr>
        <p:spPr>
          <a:xfrm>
            <a:off x="822960" y="4297680"/>
            <a:ext cx="640080" cy="64008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21" name="icon-8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3778" y="4438498"/>
            <a:ext cx="358445" cy="358445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600200" y="4407408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11827"/>
                </a:solidFill>
              </a:rPr>
              <a:t>Evidências e documentos</a:t>
            </a:r>
            <a:endParaRPr lang="en-US" sz="1700" dirty="0"/>
          </a:p>
        </p:txBody>
      </p:sp>
      <p:sp>
        <p:nvSpPr>
          <p:cNvPr id="23" name="Text 17"/>
          <p:cNvSpPr txBox="1"/>
          <p:nvPr/>
        </p:nvSpPr>
        <p:spPr>
          <a:xfrm>
            <a:off x="822960" y="507492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474"/>
                </a:solidFill>
              </a:rPr>
              <a:t>Ficheiros privados, versões, validade e aprovação assinada</a:t>
            </a:r>
            <a:endParaRPr lang="en-US" sz="1300" dirty="0"/>
          </a:p>
        </p:txBody>
      </p:sp>
      <p:sp>
        <p:nvSpPr>
          <p:cNvPr id="24" name="card-9"/>
          <p:cNvSpPr/>
          <p:nvPr/>
        </p:nvSpPr>
        <p:spPr>
          <a:xfrm>
            <a:off x="4297680" y="402336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5" name="icon-bg-10"/>
          <p:cNvSpPr/>
          <p:nvPr/>
        </p:nvSpPr>
        <p:spPr>
          <a:xfrm>
            <a:off x="4572000" y="4297680"/>
            <a:ext cx="640080" cy="64008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26" name="icon-10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12818" y="4438498"/>
            <a:ext cx="358445" cy="358445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5349240" y="4407408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11827"/>
                </a:solidFill>
              </a:rPr>
              <a:t>Maturidade</a:t>
            </a:r>
            <a:endParaRPr lang="en-US" sz="1700" dirty="0"/>
          </a:p>
        </p:txBody>
      </p:sp>
      <p:sp>
        <p:nvSpPr>
          <p:cNvPr id="28" name="Text 21"/>
          <p:cNvSpPr txBox="1"/>
          <p:nvPr/>
        </p:nvSpPr>
        <p:spPr>
          <a:xfrm>
            <a:off x="4572000" y="507492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474"/>
                </a:solidFill>
              </a:rPr>
              <a:t>Avaliações por referencial e plano de ação com tarefas</a:t>
            </a:r>
            <a:endParaRPr lang="en-US" sz="1300" dirty="0"/>
          </a:p>
        </p:txBody>
      </p:sp>
      <p:sp>
        <p:nvSpPr>
          <p:cNvPr id="29" name="card-11"/>
          <p:cNvSpPr/>
          <p:nvPr/>
        </p:nvSpPr>
        <p:spPr>
          <a:xfrm>
            <a:off x="8046720" y="402336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0" name="icon-bg-12"/>
          <p:cNvSpPr/>
          <p:nvPr/>
        </p:nvSpPr>
        <p:spPr>
          <a:xfrm>
            <a:off x="8321040" y="4297680"/>
            <a:ext cx="640080" cy="64008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31" name="icon-12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61858" y="4438498"/>
            <a:ext cx="358445" cy="358445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9098280" y="4407408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11827"/>
                </a:solidFill>
              </a:rPr>
              <a:t>Riscos e incidentes</a:t>
            </a:r>
            <a:endParaRPr lang="en-US" sz="1700" dirty="0"/>
          </a:p>
        </p:txBody>
      </p:sp>
      <p:sp>
        <p:nvSpPr>
          <p:cNvPr id="33" name="Text 25"/>
          <p:cNvSpPr txBox="1"/>
          <p:nvPr/>
        </p:nvSpPr>
        <p:spPr>
          <a:xfrm>
            <a:off x="8321040" y="507492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474"/>
                </a:solidFill>
              </a:rPr>
              <a:t>Riscos, notificações ao CNCS, vulnerabilidades e fornecedores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0936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47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Cinco passos até estar operacional</a:t>
            </a:r>
            <a:endParaRPr lang="en-US" sz="3200" dirty="0"/>
          </a:p>
        </p:txBody>
      </p:sp>
      <p:sp>
        <p:nvSpPr>
          <p:cNvPr id="3" name="timeline"/>
          <p:cNvSpPr/>
          <p:nvPr/>
        </p:nvSpPr>
        <p:spPr>
          <a:xfrm>
            <a:off x="1097280" y="2514600"/>
            <a:ext cx="9966960" cy="0"/>
          </a:xfrm>
          <a:prstGeom prst="line">
            <a:avLst/>
          </a:prstGeom>
          <a:noFill/>
          <a:ln w="25400">
            <a:solidFill>
              <a:srgbClr val="DDE2EA"/>
            </a:solidFill>
            <a:prstDash val="solid"/>
          </a:ln>
        </p:spPr>
      </p:sp>
      <p:sp>
        <p:nvSpPr>
          <p:cNvPr id="4" name="step-0"/>
          <p:cNvSpPr/>
          <p:nvPr/>
        </p:nvSpPr>
        <p:spPr>
          <a:xfrm>
            <a:off x="1097280" y="2148840"/>
            <a:ext cx="731520" cy="731520"/>
          </a:xfrm>
          <a:prstGeom prst="ellipse">
            <a:avLst/>
          </a:prstGeom>
          <a:solidFill>
            <a:srgbClr val="070A13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97280" y="21488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1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15468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11827"/>
                </a:solidFill>
              </a:rPr>
              <a:t>Criar o cliente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84048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7766C"/>
                </a:solidFill>
              </a:rPr>
              <a:t>Consultor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420624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4"/>
                </a:solidFill>
              </a:rPr>
              <a:t>Ficha, referenciais e repositório</a:t>
            </a:r>
            <a:endParaRPr lang="en-US" sz="1300" dirty="0"/>
          </a:p>
        </p:txBody>
      </p:sp>
      <p:sp>
        <p:nvSpPr>
          <p:cNvPr id="9" name="step-1"/>
          <p:cNvSpPr/>
          <p:nvPr/>
        </p:nvSpPr>
        <p:spPr>
          <a:xfrm>
            <a:off x="3383280" y="2148840"/>
            <a:ext cx="731520" cy="731520"/>
          </a:xfrm>
          <a:prstGeom prst="ellipse">
            <a:avLst/>
          </a:prstGeom>
          <a:solidFill>
            <a:srgbClr val="CFA04A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383280" y="21488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70A13"/>
                </a:solidFill>
              </a:rPr>
              <a:t>2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2834640" y="315468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11827"/>
                </a:solidFill>
              </a:rPr>
              <a:t>Enquadramento no RJC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2834640" y="384048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7766C"/>
                </a:solidFill>
              </a:rPr>
              <a:t>Consultor e cliente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2834640" y="420624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4"/>
                </a:solidFill>
              </a:rPr>
              <a:t>Qualificação, nível, prazos e jornada</a:t>
            </a:r>
            <a:endParaRPr lang="en-US" sz="1300" dirty="0"/>
          </a:p>
        </p:txBody>
      </p:sp>
      <p:sp>
        <p:nvSpPr>
          <p:cNvPr id="14" name="step-2"/>
          <p:cNvSpPr/>
          <p:nvPr/>
        </p:nvSpPr>
        <p:spPr>
          <a:xfrm>
            <a:off x="5669280" y="2148840"/>
            <a:ext cx="731520" cy="731520"/>
          </a:xfrm>
          <a:prstGeom prst="ellipse">
            <a:avLst/>
          </a:prstGeom>
          <a:solidFill>
            <a:srgbClr val="070A13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669280" y="21488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3</a:t>
            </a:r>
            <a:endParaRPr lang="en-US" sz="2200" dirty="0"/>
          </a:p>
        </p:txBody>
      </p:sp>
      <p:sp>
        <p:nvSpPr>
          <p:cNvPr id="16" name="Text 14"/>
          <p:cNvSpPr txBox="1"/>
          <p:nvPr/>
        </p:nvSpPr>
        <p:spPr>
          <a:xfrm>
            <a:off x="5120640" y="315468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11827"/>
                </a:solidFill>
              </a:rPr>
              <a:t>Atribuir a licença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5120640" y="384048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7766C"/>
                </a:solidFill>
              </a:rPr>
              <a:t>Consultor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5120640" y="420624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4"/>
                </a:solidFill>
              </a:rPr>
              <a:t>Core, PRO ou Enterprise</a:t>
            </a:r>
            <a:endParaRPr lang="en-US" sz="1300" dirty="0"/>
          </a:p>
        </p:txBody>
      </p:sp>
      <p:sp>
        <p:nvSpPr>
          <p:cNvPr id="19" name="step-3"/>
          <p:cNvSpPr/>
          <p:nvPr/>
        </p:nvSpPr>
        <p:spPr>
          <a:xfrm>
            <a:off x="7955280" y="2148840"/>
            <a:ext cx="731520" cy="731520"/>
          </a:xfrm>
          <a:prstGeom prst="ellipse">
            <a:avLst/>
          </a:prstGeom>
          <a:solidFill>
            <a:srgbClr val="070A13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955280" y="21488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4</a:t>
            </a:r>
            <a:endParaRPr lang="en-US" sz="2200" dirty="0"/>
          </a:p>
        </p:txBody>
      </p:sp>
      <p:sp>
        <p:nvSpPr>
          <p:cNvPr id="21" name="Text 19"/>
          <p:cNvSpPr txBox="1"/>
          <p:nvPr/>
        </p:nvSpPr>
        <p:spPr>
          <a:xfrm>
            <a:off x="7406640" y="315468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11827"/>
                </a:solidFill>
              </a:rPr>
              <a:t>Convidar a equipa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7406640" y="384048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7766C"/>
                </a:solidFill>
              </a:rPr>
              <a:t>Consultor ou admin. do cliente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7406640" y="420624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4"/>
                </a:solidFill>
              </a:rPr>
              <a:t>Contas com o perfil certo</a:t>
            </a:r>
            <a:endParaRPr lang="en-US" sz="1300" dirty="0"/>
          </a:p>
        </p:txBody>
      </p:sp>
      <p:sp>
        <p:nvSpPr>
          <p:cNvPr id="24" name="step-4"/>
          <p:cNvSpPr/>
          <p:nvPr/>
        </p:nvSpPr>
        <p:spPr>
          <a:xfrm>
            <a:off x="10241280" y="2148840"/>
            <a:ext cx="731520" cy="731520"/>
          </a:xfrm>
          <a:prstGeom prst="ellipse">
            <a:avLst/>
          </a:prstGeom>
          <a:solidFill>
            <a:srgbClr val="070A13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10241280" y="21488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5</a:t>
            </a:r>
            <a:endParaRPr lang="en-US" sz="2200" dirty="0"/>
          </a:p>
        </p:txBody>
      </p:sp>
      <p:sp>
        <p:nvSpPr>
          <p:cNvPr id="26" name="Text 24"/>
          <p:cNvSpPr txBox="1"/>
          <p:nvPr/>
        </p:nvSpPr>
        <p:spPr>
          <a:xfrm>
            <a:off x="9692640" y="315468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11827"/>
                </a:solidFill>
              </a:rPr>
              <a:t>Primeira avaliação</a:t>
            </a:r>
            <a:endParaRPr lang="en-US" sz="1700" dirty="0"/>
          </a:p>
        </p:txBody>
      </p:sp>
      <p:sp>
        <p:nvSpPr>
          <p:cNvPr id="27" name="Text 25"/>
          <p:cNvSpPr txBox="1"/>
          <p:nvPr/>
        </p:nvSpPr>
        <p:spPr>
          <a:xfrm>
            <a:off x="9692640" y="384048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7766C"/>
                </a:solidFill>
              </a:rPr>
              <a:t>Consultor e cliente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9692640" y="420624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4"/>
                </a:solidFill>
              </a:rPr>
              <a:t>Ponto de partida e plano de ação</a:t>
            </a:r>
            <a:endParaRPr lang="en-US" sz="1300" dirty="0"/>
          </a:p>
        </p:txBody>
      </p:sp>
      <p:sp>
        <p:nvSpPr>
          <p:cNvPr id="29" name="card-13"/>
          <p:cNvSpPr/>
          <p:nvPr/>
        </p:nvSpPr>
        <p:spPr>
          <a:xfrm>
            <a:off x="548640" y="5212080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F7F2E7"/>
          </a:solidFill>
          <a:ln w="12700">
            <a:solidFill>
              <a:srgbClr val="F7F2E7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22960" y="534924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827"/>
                </a:solidFill>
              </a:rPr>
              <a:t>Duração: </a:t>
            </a:r>
            <a:pPr indent="0" marL="0">
              <a:buNone/>
            </a:pPr>
            <a:r>
              <a:rPr lang="en-US" sz="1400" dirty="0">
                <a:solidFill>
                  <a:srgbClr val="111827"/>
                </a:solidFill>
              </a:rPr>
              <a:t>uma reunião de 30 a 45 minutos para os passos 1 a 3, com a informação preparada (manual, secção 2).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0936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47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Três perfis, responsabilidades claras</a:t>
            </a:r>
            <a:endParaRPr lang="en-US" sz="3200" dirty="0"/>
          </a:p>
        </p:txBody>
      </p:sp>
      <p:sp>
        <p:nvSpPr>
          <p:cNvPr id="3" name="card-14"/>
          <p:cNvSpPr/>
          <p:nvPr/>
        </p:nvSpPr>
        <p:spPr>
          <a:xfrm>
            <a:off x="548640" y="1463040"/>
            <a:ext cx="3520440" cy="4480560"/>
          </a:xfrm>
          <a:prstGeom prst="roundRect">
            <a:avLst>
              <a:gd name="adj" fmla="val 3117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" name="icon-bg-15"/>
          <p:cNvSpPr/>
          <p:nvPr/>
        </p:nvSpPr>
        <p:spPr>
          <a:xfrm>
            <a:off x="868680" y="1783080"/>
            <a:ext cx="685800" cy="685800"/>
          </a:xfrm>
          <a:prstGeom prst="ellipse">
            <a:avLst/>
          </a:prstGeom>
          <a:solidFill>
            <a:srgbClr val="070A13"/>
          </a:solidFill>
          <a:ln w="12700">
            <a:solidFill>
              <a:srgbClr val="070A13"/>
            </a:solidFill>
            <a:prstDash val="solid"/>
          </a:ln>
        </p:spPr>
      </p:sp>
      <p:pic>
        <p:nvPicPr>
          <p:cNvPr id="5" name="icon-15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9556" y="1933956"/>
            <a:ext cx="384048" cy="38404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68680" y="265176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11827"/>
                </a:solidFill>
              </a:rPr>
              <a:t>Consultor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310896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7766C"/>
                </a:solidFill>
              </a:rPr>
              <a:t>Administrador da plataforma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3657600"/>
            <a:ext cx="29260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827"/>
                </a:solidFill>
              </a:rPr>
              <a:t>Cria o cliente e a licença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827"/>
                </a:solidFill>
              </a:rPr>
              <a:t>Faz ou valida o enquadramento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827"/>
                </a:solidFill>
              </a:rPr>
              <a:t>Cria avaliações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827"/>
                </a:solidFill>
              </a:rPr>
              <a:t>Aceita ou rejeita evidências</a:t>
            </a:r>
            <a:endParaRPr lang="en-US" sz="1400" dirty="0"/>
          </a:p>
        </p:txBody>
      </p:sp>
      <p:sp>
        <p:nvSpPr>
          <p:cNvPr id="9" name="card-16"/>
          <p:cNvSpPr/>
          <p:nvPr/>
        </p:nvSpPr>
        <p:spPr>
          <a:xfrm>
            <a:off x="4297680" y="1463040"/>
            <a:ext cx="3520440" cy="4480560"/>
          </a:xfrm>
          <a:prstGeom prst="roundRect">
            <a:avLst>
              <a:gd name="adj" fmla="val 3117"/>
            </a:avLst>
          </a:prstGeom>
          <a:solidFill>
            <a:srgbClr val="070A13"/>
          </a:solidFill>
          <a:ln w="12700">
            <a:solidFill>
              <a:srgbClr val="070A13"/>
            </a:solidFill>
            <a:prstDash val="solid"/>
          </a:ln>
        </p:spPr>
      </p:sp>
      <p:sp>
        <p:nvSpPr>
          <p:cNvPr id="10" name="icon-bg-17"/>
          <p:cNvSpPr/>
          <p:nvPr/>
        </p:nvSpPr>
        <p:spPr>
          <a:xfrm>
            <a:off x="4617720" y="1783080"/>
            <a:ext cx="685800" cy="685800"/>
          </a:xfrm>
          <a:prstGeom prst="ellipse">
            <a:avLst/>
          </a:prstGeom>
          <a:solidFill>
            <a:srgbClr val="CFA04A"/>
          </a:solidFill>
          <a:ln w="12700">
            <a:solidFill>
              <a:srgbClr val="CFA04A"/>
            </a:solidFill>
            <a:prstDash val="solid"/>
          </a:ln>
        </p:spPr>
      </p:sp>
      <p:pic>
        <p:nvPicPr>
          <p:cNvPr id="11" name="icon-17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8596" y="1933956"/>
            <a:ext cx="384048" cy="384048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617720" y="265176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Administrador do cliente</a:t>
            </a:r>
            <a:endParaRPr lang="en-US" sz="2000" dirty="0"/>
          </a:p>
        </p:txBody>
      </p:sp>
      <p:sp>
        <p:nvSpPr>
          <p:cNvPr id="13" name="Text 9"/>
          <p:cNvSpPr txBox="1"/>
          <p:nvPr/>
        </p:nvSpPr>
        <p:spPr>
          <a:xfrm>
            <a:off x="4617720" y="310896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FA04A"/>
                </a:solidFill>
              </a:rPr>
              <a:t>Responsável de cibersegurança</a:t>
            </a:r>
            <a:endParaRPr lang="en-US" sz="1300" dirty="0"/>
          </a:p>
        </p:txBody>
      </p:sp>
      <p:sp>
        <p:nvSpPr>
          <p:cNvPr id="14" name="Text 10"/>
          <p:cNvSpPr txBox="1"/>
          <p:nvPr/>
        </p:nvSpPr>
        <p:spPr>
          <a:xfrm>
            <a:off x="4617720" y="3657600"/>
            <a:ext cx="29260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9EF"/>
                </a:solidFill>
              </a:rPr>
              <a:t>Gere a jornada e as medidas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9EF"/>
                </a:solidFill>
              </a:rPr>
              <a:t>Aprova documentos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9EF"/>
                </a:solidFill>
              </a:rPr>
              <a:t>Convida utilizadores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9EF"/>
                </a:solidFill>
              </a:rPr>
              <a:t>Riscos, incidentes, fornecedores, IA</a:t>
            </a:r>
            <a:endParaRPr lang="en-US" sz="1400" dirty="0"/>
          </a:p>
        </p:txBody>
      </p:sp>
      <p:sp>
        <p:nvSpPr>
          <p:cNvPr id="15" name="card-18"/>
          <p:cNvSpPr/>
          <p:nvPr/>
        </p:nvSpPr>
        <p:spPr>
          <a:xfrm>
            <a:off x="8046720" y="1463040"/>
            <a:ext cx="3520440" cy="4480560"/>
          </a:xfrm>
          <a:prstGeom prst="roundRect">
            <a:avLst>
              <a:gd name="adj" fmla="val 3117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6" name="icon-bg-19"/>
          <p:cNvSpPr/>
          <p:nvPr/>
        </p:nvSpPr>
        <p:spPr>
          <a:xfrm>
            <a:off x="8366760" y="1783080"/>
            <a:ext cx="685800" cy="685800"/>
          </a:xfrm>
          <a:prstGeom prst="ellipse">
            <a:avLst/>
          </a:prstGeom>
          <a:solidFill>
            <a:srgbClr val="070A13"/>
          </a:solidFill>
          <a:ln w="12700">
            <a:solidFill>
              <a:srgbClr val="070A13"/>
            </a:solidFill>
            <a:prstDash val="solid"/>
          </a:ln>
        </p:spPr>
      </p:sp>
      <p:pic>
        <p:nvPicPr>
          <p:cNvPr id="17" name="icon-19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17636" y="1933956"/>
            <a:ext cx="384048" cy="384048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366760" y="265176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11827"/>
                </a:solidFill>
              </a:rPr>
              <a:t>Utilizador</a:t>
            </a:r>
            <a:endParaRPr lang="en-US" sz="2000" dirty="0"/>
          </a:p>
        </p:txBody>
      </p:sp>
      <p:sp>
        <p:nvSpPr>
          <p:cNvPr id="19" name="Text 14"/>
          <p:cNvSpPr txBox="1"/>
          <p:nvPr/>
        </p:nvSpPr>
        <p:spPr>
          <a:xfrm>
            <a:off x="8366760" y="310896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7766C"/>
                </a:solidFill>
              </a:rPr>
              <a:t>Restante equipa</a:t>
            </a:r>
            <a:endParaRPr lang="en-US" sz="1300" dirty="0"/>
          </a:p>
        </p:txBody>
      </p:sp>
      <p:sp>
        <p:nvSpPr>
          <p:cNvPr id="20" name="Text 15"/>
          <p:cNvSpPr txBox="1"/>
          <p:nvPr/>
        </p:nvSpPr>
        <p:spPr>
          <a:xfrm>
            <a:off x="8366760" y="3657600"/>
            <a:ext cx="29260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827"/>
                </a:solidFill>
              </a:rPr>
              <a:t>Consulta a jornada e a lei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827"/>
                </a:solidFill>
              </a:rPr>
              <a:t>Responde a avaliações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827"/>
                </a:solidFill>
              </a:rPr>
              <a:t>Trata as suas tarefas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827"/>
                </a:solidFill>
              </a:rPr>
              <a:t>Propõe documentos e evidências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0936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47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O enquadramento define o que tem de cumprir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7766C"/>
                </a:solidFill>
              </a:rPr>
              <a:t>Sete perguntas, por esta ordem</a:t>
            </a:r>
            <a:endParaRPr lang="en-US" sz="1600" dirty="0"/>
          </a:p>
        </p:txBody>
      </p:sp>
      <p:sp>
        <p:nvSpPr>
          <p:cNvPr id="4" name="q-0"/>
          <p:cNvSpPr/>
          <p:nvPr/>
        </p:nvSpPr>
        <p:spPr>
          <a:xfrm>
            <a:off x="548640" y="1874520"/>
            <a:ext cx="384048" cy="384048"/>
          </a:xfrm>
          <a:prstGeom prst="ellipse">
            <a:avLst/>
          </a:prstGeom>
          <a:solidFill>
            <a:srgbClr val="070A13"/>
          </a:solidFill>
          <a:ln w="12700">
            <a:solidFill>
              <a:srgbClr val="070A1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874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FA04A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097280" y="1874520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</a:rPr>
              <a:t>Atividade (Anexos I e II)</a:t>
            </a:r>
            <a:endParaRPr lang="en-US" sz="1500" dirty="0"/>
          </a:p>
        </p:txBody>
      </p:sp>
      <p:sp>
        <p:nvSpPr>
          <p:cNvPr id="7" name="q-1"/>
          <p:cNvSpPr/>
          <p:nvPr/>
        </p:nvSpPr>
        <p:spPr>
          <a:xfrm>
            <a:off x="548640" y="2441448"/>
            <a:ext cx="384048" cy="384048"/>
          </a:xfrm>
          <a:prstGeom prst="ellipse">
            <a:avLst/>
          </a:prstGeom>
          <a:solidFill>
            <a:srgbClr val="070A13"/>
          </a:solidFill>
          <a:ln w="12700">
            <a:solidFill>
              <a:srgbClr val="070A1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4414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FA04A"/>
                </a:solidFill>
              </a:rPr>
              <a:t>2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2441448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</a:rPr>
              <a:t>Estabelecimento (art. 4.º)</a:t>
            </a:r>
            <a:endParaRPr lang="en-US" sz="1500" dirty="0"/>
          </a:p>
        </p:txBody>
      </p:sp>
      <p:sp>
        <p:nvSpPr>
          <p:cNvPr id="10" name="q-2"/>
          <p:cNvSpPr/>
          <p:nvPr/>
        </p:nvSpPr>
        <p:spPr>
          <a:xfrm>
            <a:off x="548640" y="3008376"/>
            <a:ext cx="384048" cy="384048"/>
          </a:xfrm>
          <a:prstGeom prst="ellipse">
            <a:avLst/>
          </a:prstGeom>
          <a:solidFill>
            <a:srgbClr val="070A13"/>
          </a:solidFill>
          <a:ln w="12700">
            <a:solidFill>
              <a:srgbClr val="070A1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30083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FA04A"/>
                </a:solidFill>
              </a:rPr>
              <a:t>3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097280" y="3008376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</a:rPr>
              <a:t>Dimensão</a:t>
            </a:r>
            <a:endParaRPr lang="en-US" sz="1500" dirty="0"/>
          </a:p>
        </p:txBody>
      </p:sp>
      <p:sp>
        <p:nvSpPr>
          <p:cNvPr id="13" name="q-3"/>
          <p:cNvSpPr/>
          <p:nvPr/>
        </p:nvSpPr>
        <p:spPr>
          <a:xfrm>
            <a:off x="548640" y="3575304"/>
            <a:ext cx="384048" cy="384048"/>
          </a:xfrm>
          <a:prstGeom prst="ellipse">
            <a:avLst/>
          </a:prstGeom>
          <a:solidFill>
            <a:srgbClr val="070A13"/>
          </a:solidFill>
          <a:ln w="12700">
            <a:solidFill>
              <a:srgbClr val="070A1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35753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FA04A"/>
                </a:solidFill>
              </a:rPr>
              <a:t>4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3575304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</a:rPr>
              <a:t>Casos especiais</a:t>
            </a:r>
            <a:endParaRPr lang="en-US" sz="1500" dirty="0"/>
          </a:p>
        </p:txBody>
      </p:sp>
      <p:sp>
        <p:nvSpPr>
          <p:cNvPr id="16" name="q-4"/>
          <p:cNvSpPr/>
          <p:nvPr/>
        </p:nvSpPr>
        <p:spPr>
          <a:xfrm>
            <a:off x="548640" y="4142232"/>
            <a:ext cx="384048" cy="384048"/>
          </a:xfrm>
          <a:prstGeom prst="ellipse">
            <a:avLst/>
          </a:prstGeom>
          <a:solidFill>
            <a:srgbClr val="070A13"/>
          </a:solidFill>
          <a:ln w="12700">
            <a:solidFill>
              <a:srgbClr val="070A1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41422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FA04A"/>
                </a:solidFill>
              </a:rPr>
              <a:t>5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097280" y="4142232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</a:rPr>
              <a:t>Entidade pública</a:t>
            </a:r>
            <a:endParaRPr lang="en-US" sz="1500" dirty="0"/>
          </a:p>
        </p:txBody>
      </p:sp>
      <p:sp>
        <p:nvSpPr>
          <p:cNvPr id="19" name="q-5"/>
          <p:cNvSpPr/>
          <p:nvPr/>
        </p:nvSpPr>
        <p:spPr>
          <a:xfrm>
            <a:off x="548640" y="4709160"/>
            <a:ext cx="384048" cy="384048"/>
          </a:xfrm>
          <a:prstGeom prst="ellipse">
            <a:avLst/>
          </a:prstGeom>
          <a:solidFill>
            <a:srgbClr val="070A13"/>
          </a:solidFill>
          <a:ln w="12700">
            <a:solidFill>
              <a:srgbClr val="070A1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8640" y="4709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FA04A"/>
                </a:solidFill>
              </a:rPr>
              <a:t>6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097280" y="4709160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</a:rPr>
              <a:t>Prazos e decisões do CNCS</a:t>
            </a:r>
            <a:endParaRPr lang="en-US" sz="1500" dirty="0"/>
          </a:p>
        </p:txBody>
      </p:sp>
      <p:sp>
        <p:nvSpPr>
          <p:cNvPr id="22" name="q-6"/>
          <p:cNvSpPr/>
          <p:nvPr/>
        </p:nvSpPr>
        <p:spPr>
          <a:xfrm>
            <a:off x="548640" y="5276088"/>
            <a:ext cx="384048" cy="384048"/>
          </a:xfrm>
          <a:prstGeom prst="ellipse">
            <a:avLst/>
          </a:prstGeom>
          <a:solidFill>
            <a:srgbClr val="070A13"/>
          </a:solidFill>
          <a:ln w="12700">
            <a:solidFill>
              <a:srgbClr val="070A13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48640" y="5276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FA04A"/>
                </a:solidFill>
              </a:rPr>
              <a:t>7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1097280" y="5276088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</a:rPr>
              <a:t>Resultado com a base legal</a:t>
            </a:r>
            <a:endParaRPr lang="en-US" sz="1500" dirty="0"/>
          </a:p>
        </p:txBody>
      </p:sp>
      <p:sp>
        <p:nvSpPr>
          <p:cNvPr id="25" name="card-20"/>
          <p:cNvSpPr/>
          <p:nvPr/>
        </p:nvSpPr>
        <p:spPr>
          <a:xfrm>
            <a:off x="5486400" y="1463040"/>
            <a:ext cx="2926080" cy="1691640"/>
          </a:xfrm>
          <a:prstGeom prst="roundRect">
            <a:avLst>
              <a:gd name="adj" fmla="val 6486"/>
            </a:avLst>
          </a:prstGeom>
          <a:solidFill>
            <a:srgbClr val="070A13"/>
          </a:solidFill>
          <a:ln w="12700">
            <a:solidFill>
              <a:srgbClr val="070A13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715000" y="169164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CFA04A"/>
                </a:solidFill>
              </a:rPr>
              <a:t>Essencial ou importante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5715000" y="2286000"/>
            <a:ext cx="2468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6E9EF"/>
                </a:solidFill>
              </a:rPr>
              <a:t>Medidas do nível Básico, Substancial ou Elevado (cumulativas)</a:t>
            </a:r>
            <a:endParaRPr lang="en-US" sz="1300" dirty="0"/>
          </a:p>
        </p:txBody>
      </p:sp>
      <p:sp>
        <p:nvSpPr>
          <p:cNvPr id="28" name="card-21"/>
          <p:cNvSpPr/>
          <p:nvPr/>
        </p:nvSpPr>
        <p:spPr>
          <a:xfrm>
            <a:off x="8595360" y="1463040"/>
            <a:ext cx="2926080" cy="1691640"/>
          </a:xfrm>
          <a:prstGeom prst="roundRect">
            <a:avLst>
              <a:gd name="adj" fmla="val 6486"/>
            </a:avLst>
          </a:prstGeom>
          <a:solidFill>
            <a:srgbClr val="070A13"/>
          </a:solidFill>
          <a:ln w="12700">
            <a:solidFill>
              <a:srgbClr val="070A13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823960" y="169164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CFA04A"/>
                </a:solidFill>
              </a:rPr>
              <a:t>Pública relevante A ou B</a:t>
            </a:r>
            <a:endParaRPr lang="en-US" sz="1600" dirty="0"/>
          </a:p>
        </p:txBody>
      </p:sp>
      <p:sp>
        <p:nvSpPr>
          <p:cNvPr id="30" name="Text 28"/>
          <p:cNvSpPr txBox="1"/>
          <p:nvPr/>
        </p:nvSpPr>
        <p:spPr>
          <a:xfrm>
            <a:off x="8823960" y="2286000"/>
            <a:ext cx="2468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6E9EF"/>
                </a:solidFill>
              </a:rPr>
              <a:t>Medidas do Anexo IV; o Grupo A inclui o B</a:t>
            </a:r>
            <a:endParaRPr lang="en-US" sz="1300" dirty="0"/>
          </a:p>
        </p:txBody>
      </p:sp>
      <p:sp>
        <p:nvSpPr>
          <p:cNvPr id="31" name="card-22"/>
          <p:cNvSpPr/>
          <p:nvPr/>
        </p:nvSpPr>
        <p:spPr>
          <a:xfrm>
            <a:off x="5486400" y="3337560"/>
            <a:ext cx="2926080" cy="1691640"/>
          </a:xfrm>
          <a:prstGeom prst="roundRect">
            <a:avLst>
              <a:gd name="adj" fmla="val 6486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5715000" y="356616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11827"/>
                </a:solidFill>
              </a:rPr>
              <a:t>Não abrangida</a:t>
            </a:r>
            <a:endParaRPr lang="en-US" sz="1600" dirty="0"/>
          </a:p>
        </p:txBody>
      </p:sp>
      <p:sp>
        <p:nvSpPr>
          <p:cNvPr id="33" name="Text 31"/>
          <p:cNvSpPr txBox="1"/>
          <p:nvPr/>
        </p:nvSpPr>
        <p:spPr>
          <a:xfrm>
            <a:off x="5715000" y="4160520"/>
            <a:ext cx="2468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474"/>
                </a:solidFill>
              </a:rPr>
              <a:t>Boas práticas, por exemplo ISO/IEC 27001</a:t>
            </a:r>
            <a:endParaRPr lang="en-US" sz="1300" dirty="0"/>
          </a:p>
        </p:txBody>
      </p:sp>
      <p:sp>
        <p:nvSpPr>
          <p:cNvPr id="34" name="card-23"/>
          <p:cNvSpPr/>
          <p:nvPr/>
        </p:nvSpPr>
        <p:spPr>
          <a:xfrm>
            <a:off x="8595360" y="3337560"/>
            <a:ext cx="2926080" cy="1691640"/>
          </a:xfrm>
          <a:prstGeom prst="roundRect">
            <a:avLst>
              <a:gd name="adj" fmla="val 6486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8823960" y="356616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11827"/>
                </a:solidFill>
              </a:rPr>
              <a:t>Por determinar</a:t>
            </a:r>
            <a:endParaRPr lang="en-US" sz="1600" dirty="0"/>
          </a:p>
        </p:txBody>
      </p:sp>
      <p:sp>
        <p:nvSpPr>
          <p:cNvPr id="36" name="Text 34"/>
          <p:cNvSpPr txBox="1"/>
          <p:nvPr/>
        </p:nvSpPr>
        <p:spPr>
          <a:xfrm>
            <a:off x="8823960" y="4160520"/>
            <a:ext cx="2468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474"/>
                </a:solidFill>
              </a:rPr>
              <a:t>Pontos em aberto a confirmar com o CNCS</a:t>
            </a:r>
            <a:endParaRPr lang="en-US" sz="1300" dirty="0"/>
          </a:p>
        </p:txBody>
      </p:sp>
      <p:sp>
        <p:nvSpPr>
          <p:cNvPr id="37" name="card-24"/>
          <p:cNvSpPr/>
          <p:nvPr/>
        </p:nvSpPr>
        <p:spPr>
          <a:xfrm>
            <a:off x="5486400" y="5303520"/>
            <a:ext cx="6035040" cy="685800"/>
          </a:xfrm>
          <a:prstGeom prst="roundRect">
            <a:avLst>
              <a:gd name="adj" fmla="val 16000"/>
            </a:avLst>
          </a:prstGeom>
          <a:solidFill>
            <a:srgbClr val="E6F5F3"/>
          </a:solidFill>
          <a:ln w="12700">
            <a:solidFill>
              <a:srgbClr val="E6F5F3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5715000" y="5376672"/>
            <a:ext cx="5669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7766C"/>
                </a:solidFill>
              </a:rPr>
              <a:t>Ao confirmar: jornada criada, secção A atualizada e relatório de enquadramento guardado em PDF como evidência.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0936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47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A licença escolhe os módulos disponíveis</a:t>
            </a:r>
            <a:endParaRPr lang="en-US" sz="3200" dirty="0"/>
          </a:p>
        </p:txBody>
      </p:sp>
      <p:sp>
        <p:nvSpPr>
          <p:cNvPr id="3" name="card-25"/>
          <p:cNvSpPr/>
          <p:nvPr/>
        </p:nvSpPr>
        <p:spPr>
          <a:xfrm>
            <a:off x="548640" y="1463040"/>
            <a:ext cx="3520440" cy="4023360"/>
          </a:xfrm>
          <a:prstGeom prst="roundRect">
            <a:avLst>
              <a:gd name="adj" fmla="val 3117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68680" y="173736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070A13"/>
                </a:solidFill>
              </a:rPr>
              <a:t>Core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2468880"/>
            <a:ext cx="297180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11827"/>
                </a:solidFill>
              </a:rPr>
              <a:t>Jornada de Conformidade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11827"/>
                </a:solidFill>
              </a:rPr>
              <a:t>Avaliações e Plano de Ação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11827"/>
                </a:solidFill>
              </a:rPr>
              <a:t>Documentos e Evidências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11827"/>
                </a:solidFill>
              </a:rPr>
              <a:t>Biblioteca Legal e Guia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11827"/>
                </a:solidFill>
              </a:rPr>
              <a:t>Gestão de Risco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11827"/>
                </a:solidFill>
              </a:rPr>
              <a:t>Relatórios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11827"/>
                </a:solidFill>
              </a:rPr>
              <a:t>Ativos e Ferramentas</a:t>
            </a:r>
            <a:endParaRPr lang="en-US" sz="1400" dirty="0"/>
          </a:p>
        </p:txBody>
      </p:sp>
      <p:sp>
        <p:nvSpPr>
          <p:cNvPr id="6" name="card-26"/>
          <p:cNvSpPr/>
          <p:nvPr/>
        </p:nvSpPr>
        <p:spPr>
          <a:xfrm>
            <a:off x="4297680" y="1463040"/>
            <a:ext cx="3520440" cy="4023360"/>
          </a:xfrm>
          <a:prstGeom prst="roundRect">
            <a:avLst>
              <a:gd name="adj" fmla="val 3117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617720" y="173736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070A13"/>
                </a:solidFill>
              </a:rPr>
              <a:t>PRO</a:t>
            </a:r>
            <a:endParaRPr lang="en-US" sz="2600" dirty="0"/>
          </a:p>
        </p:txBody>
      </p:sp>
      <p:sp>
        <p:nvSpPr>
          <p:cNvPr id="8" name="Text 6"/>
          <p:cNvSpPr txBox="1"/>
          <p:nvPr/>
        </p:nvSpPr>
        <p:spPr>
          <a:xfrm>
            <a:off x="4617720" y="2468880"/>
            <a:ext cx="297180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11827"/>
                </a:solidFill>
              </a:rPr>
              <a:t>Tudo o que está no Core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11827"/>
                </a:solidFill>
              </a:rPr>
              <a:t>Gestão de Incidentes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11827"/>
                </a:solidFill>
              </a:rPr>
              <a:t>Gestão de Fornecedores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11827"/>
                </a:solidFill>
              </a:rPr>
              <a:t>Alertas de vulnerabilidades (CVE)</a:t>
            </a:r>
            <a:endParaRPr lang="en-US" sz="1400" dirty="0"/>
          </a:p>
        </p:txBody>
      </p:sp>
      <p:sp>
        <p:nvSpPr>
          <p:cNvPr id="9" name="card-27"/>
          <p:cNvSpPr/>
          <p:nvPr/>
        </p:nvSpPr>
        <p:spPr>
          <a:xfrm>
            <a:off x="8046720" y="1463040"/>
            <a:ext cx="3520440" cy="4023360"/>
          </a:xfrm>
          <a:prstGeom prst="roundRect">
            <a:avLst>
              <a:gd name="adj" fmla="val 3117"/>
            </a:avLst>
          </a:prstGeom>
          <a:solidFill>
            <a:srgbClr val="070A13"/>
          </a:solidFill>
          <a:ln w="12700">
            <a:solidFill>
              <a:srgbClr val="070A1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366760" y="173736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CFA04A"/>
                </a:solidFill>
              </a:rPr>
              <a:t>Enterprise</a:t>
            </a:r>
            <a:endParaRPr lang="en-US" sz="2600" dirty="0"/>
          </a:p>
        </p:txBody>
      </p:sp>
      <p:sp>
        <p:nvSpPr>
          <p:cNvPr id="11" name="Text 9"/>
          <p:cNvSpPr txBox="1"/>
          <p:nvPr/>
        </p:nvSpPr>
        <p:spPr>
          <a:xfrm>
            <a:off x="8366760" y="2468880"/>
            <a:ext cx="297180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9EF"/>
                </a:solidFill>
              </a:rPr>
              <a:t>Tudo o que está no PRO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9EF"/>
                </a:solidFill>
              </a:rPr>
              <a:t>Assistente de IA, com quota mensal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9EF"/>
                </a:solidFill>
              </a:rPr>
              <a:t>Privacidade (quando disponível)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4"/>
                </a:solidFill>
              </a:rPr>
              <a:t>A licença define também os referenciais (NIS2, QNRCS, ISO/IEC 27001, ISO/IEC 42001, DORA…) e o número de utilizadores (mínimo de 5). O menu só mostra o que está incluído.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0936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47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731520" y="23774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chemeClr val="accent1"/>
                </a:solidFill>
              </a:rPr>
              <a:t>PARTE 2</a:t>
            </a:r>
            <a:endParaRPr lang="en-US" sz="14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731520" y="278892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Navegar e trabalhar no dia a dia</a:t>
            </a:r>
            <a:endParaRPr lang="en-US" sz="4000" dirty="0"/>
          </a:p>
        </p:txBody>
      </p:sp>
      <p:sp>
        <p:nvSpPr>
          <p:cNvPr id="4" name="Text 0"/>
          <p:cNvSpPr/>
          <p:nvPr>
            <p:ph idx="103" type="body" hasCustomPrompt="1"/>
          </p:nvPr>
        </p:nvSpPr>
        <p:spPr>
          <a:xfrm>
            <a:off x="731520" y="393192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9CFDA"/>
                </a:solidFill>
              </a:rPr>
              <a:t>Entrar, o menu, a jornada, as medidas, as evidências e as avaliações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31520" y="626364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892A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O menu segue a ordem do trabalho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3444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6474"/>
                </a:solidFill>
              </a:rPr>
              <a:t>Entrar em app.ankoraone.com com Google, Microsoft ou email. Só aparecem os itens da licença e do perfil.</a:t>
            </a:r>
            <a:endParaRPr lang="en-US" sz="1600" dirty="0"/>
          </a:p>
        </p:txBody>
      </p:sp>
      <p:sp>
        <p:nvSpPr>
          <p:cNvPr id="4" name="card-28"/>
          <p:cNvSpPr/>
          <p:nvPr/>
        </p:nvSpPr>
        <p:spPr>
          <a:xfrm>
            <a:off x="548640" y="1874520"/>
            <a:ext cx="2057400" cy="3977640"/>
          </a:xfrm>
          <a:prstGeom prst="roundRect">
            <a:avLst>
              <a:gd name="adj" fmla="val 533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" name="icon-bg-29"/>
          <p:cNvSpPr/>
          <p:nvPr/>
        </p:nvSpPr>
        <p:spPr>
          <a:xfrm>
            <a:off x="822960" y="2148840"/>
            <a:ext cx="594360" cy="594360"/>
          </a:xfrm>
          <a:prstGeom prst="ellipse">
            <a:avLst/>
          </a:prstGeom>
          <a:solidFill>
            <a:srgbClr val="070A13"/>
          </a:solidFill>
          <a:ln w="12700">
            <a:solidFill>
              <a:srgbClr val="070A13"/>
            </a:solidFill>
            <a:prstDash val="solid"/>
          </a:ln>
        </p:spPr>
      </p:sp>
      <p:pic>
        <p:nvPicPr>
          <p:cNvPr id="6" name="icon-29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3719" y="2279599"/>
            <a:ext cx="332842" cy="33284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22960" y="2926080"/>
            <a:ext cx="1600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11827"/>
                </a:solidFill>
              </a:rPr>
              <a:t>Visão geral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3703320"/>
            <a:ext cx="1600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474"/>
                </a:solidFill>
              </a:rPr>
              <a:t>Painel</a:t>
            </a:r>
            <a:endParaRPr lang="en-US" sz="1300" dirty="0"/>
          </a:p>
        </p:txBody>
      </p:sp>
      <p:sp>
        <p:nvSpPr>
          <p:cNvPr id="9" name="card-30"/>
          <p:cNvSpPr/>
          <p:nvPr/>
        </p:nvSpPr>
        <p:spPr>
          <a:xfrm>
            <a:off x="2788920" y="1874520"/>
            <a:ext cx="2057400" cy="3977640"/>
          </a:xfrm>
          <a:prstGeom prst="roundRect">
            <a:avLst>
              <a:gd name="adj" fmla="val 5333"/>
            </a:avLst>
          </a:prstGeom>
          <a:solidFill>
            <a:srgbClr val="070A13"/>
          </a:solidFill>
          <a:ln w="12700">
            <a:solidFill>
              <a:srgbClr val="070A13"/>
            </a:solidFill>
            <a:prstDash val="solid"/>
          </a:ln>
        </p:spPr>
      </p:sp>
      <p:sp>
        <p:nvSpPr>
          <p:cNvPr id="10" name="icon-bg-31"/>
          <p:cNvSpPr/>
          <p:nvPr/>
        </p:nvSpPr>
        <p:spPr>
          <a:xfrm>
            <a:off x="3063240" y="2148840"/>
            <a:ext cx="594360" cy="594360"/>
          </a:xfrm>
          <a:prstGeom prst="ellipse">
            <a:avLst/>
          </a:prstGeom>
          <a:solidFill>
            <a:srgbClr val="CFA04A"/>
          </a:solidFill>
          <a:ln w="12700">
            <a:solidFill>
              <a:srgbClr val="CFA04A"/>
            </a:solidFill>
            <a:prstDash val="solid"/>
          </a:ln>
        </p:spPr>
      </p:sp>
      <p:pic>
        <p:nvPicPr>
          <p:cNvPr id="11" name="icon-3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93999" y="2279599"/>
            <a:ext cx="332842" cy="33284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3063240" y="2926080"/>
            <a:ext cx="1600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Avaliar e comprovar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3063240" y="3703320"/>
            <a:ext cx="1600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6E9EF"/>
                </a:solidFill>
              </a:rPr>
              <a:t>Jornada · Avaliações · Evidências · Biblioteca Legal · Guia · Ativos</a:t>
            </a:r>
            <a:endParaRPr lang="en-US" sz="1300" dirty="0"/>
          </a:p>
        </p:txBody>
      </p:sp>
      <p:sp>
        <p:nvSpPr>
          <p:cNvPr id="14" name="card-32"/>
          <p:cNvSpPr/>
          <p:nvPr/>
        </p:nvSpPr>
        <p:spPr>
          <a:xfrm>
            <a:off x="5029200" y="1874520"/>
            <a:ext cx="2057400" cy="3977640"/>
          </a:xfrm>
          <a:prstGeom prst="roundRect">
            <a:avLst>
              <a:gd name="adj" fmla="val 533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5" name="icon-bg-33"/>
          <p:cNvSpPr/>
          <p:nvPr/>
        </p:nvSpPr>
        <p:spPr>
          <a:xfrm>
            <a:off x="5303520" y="2148840"/>
            <a:ext cx="594360" cy="594360"/>
          </a:xfrm>
          <a:prstGeom prst="ellipse">
            <a:avLst/>
          </a:prstGeom>
          <a:solidFill>
            <a:srgbClr val="070A13"/>
          </a:solidFill>
          <a:ln w="12700">
            <a:solidFill>
              <a:srgbClr val="070A13"/>
            </a:solidFill>
            <a:prstDash val="solid"/>
          </a:ln>
        </p:spPr>
      </p:sp>
      <p:pic>
        <p:nvPicPr>
          <p:cNvPr id="16" name="icon-33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34279" y="2279599"/>
            <a:ext cx="332842" cy="332842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5303520" y="2926080"/>
            <a:ext cx="1600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11827"/>
                </a:solidFill>
              </a:rPr>
              <a:t>Melhorar e gerir</a:t>
            </a:r>
            <a:endParaRPr lang="en-US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5303520" y="3703320"/>
            <a:ext cx="1600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474"/>
                </a:solidFill>
              </a:rPr>
              <a:t>Plano de Ação · Recomendações · Tarefas · Riscos · Incidentes · Vulnerabilidades</a:t>
            </a:r>
            <a:endParaRPr lang="en-US" sz="1300" dirty="0"/>
          </a:p>
        </p:txBody>
      </p:sp>
      <p:sp>
        <p:nvSpPr>
          <p:cNvPr id="19" name="card-34"/>
          <p:cNvSpPr/>
          <p:nvPr/>
        </p:nvSpPr>
        <p:spPr>
          <a:xfrm>
            <a:off x="7269480" y="1874520"/>
            <a:ext cx="2057400" cy="3977640"/>
          </a:xfrm>
          <a:prstGeom prst="roundRect">
            <a:avLst>
              <a:gd name="adj" fmla="val 533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0" name="icon-bg-35"/>
          <p:cNvSpPr/>
          <p:nvPr/>
        </p:nvSpPr>
        <p:spPr>
          <a:xfrm>
            <a:off x="7543800" y="2148840"/>
            <a:ext cx="594360" cy="594360"/>
          </a:xfrm>
          <a:prstGeom prst="ellipse">
            <a:avLst/>
          </a:prstGeom>
          <a:solidFill>
            <a:srgbClr val="070A13"/>
          </a:solidFill>
          <a:ln w="12700">
            <a:solidFill>
              <a:srgbClr val="070A13"/>
            </a:solidFill>
            <a:prstDash val="solid"/>
          </a:ln>
        </p:spPr>
      </p:sp>
      <p:pic>
        <p:nvPicPr>
          <p:cNvPr id="21" name="icon-35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74559" y="2279599"/>
            <a:ext cx="332842" cy="332842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7543800" y="2926080"/>
            <a:ext cx="1600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11827"/>
                </a:solidFill>
              </a:rPr>
              <a:t>Governar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7543800" y="3703320"/>
            <a:ext cx="1600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474"/>
                </a:solidFill>
              </a:rPr>
              <a:t>Documentos · Repositório documental · Auditoria · Cadeia de Abastecimento · Fornecedores</a:t>
            </a:r>
            <a:endParaRPr lang="en-US" sz="1300" dirty="0"/>
          </a:p>
        </p:txBody>
      </p:sp>
      <p:sp>
        <p:nvSpPr>
          <p:cNvPr id="24" name="card-36"/>
          <p:cNvSpPr/>
          <p:nvPr/>
        </p:nvSpPr>
        <p:spPr>
          <a:xfrm>
            <a:off x="9509760" y="1874520"/>
            <a:ext cx="2057400" cy="3977640"/>
          </a:xfrm>
          <a:prstGeom prst="roundRect">
            <a:avLst>
              <a:gd name="adj" fmla="val 533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5" name="icon-bg-37"/>
          <p:cNvSpPr/>
          <p:nvPr/>
        </p:nvSpPr>
        <p:spPr>
          <a:xfrm>
            <a:off x="9784080" y="2148840"/>
            <a:ext cx="594360" cy="594360"/>
          </a:xfrm>
          <a:prstGeom prst="ellipse">
            <a:avLst/>
          </a:prstGeom>
          <a:solidFill>
            <a:srgbClr val="070A13"/>
          </a:solidFill>
          <a:ln w="12700">
            <a:solidFill>
              <a:srgbClr val="070A13"/>
            </a:solidFill>
            <a:prstDash val="solid"/>
          </a:ln>
        </p:spPr>
      </p:sp>
      <p:pic>
        <p:nvPicPr>
          <p:cNvPr id="26" name="icon-37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14839" y="2279599"/>
            <a:ext cx="332842" cy="332842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9784080" y="2926080"/>
            <a:ext cx="1600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11827"/>
                </a:solidFill>
              </a:rPr>
              <a:t>Analisar</a:t>
            </a:r>
            <a:endParaRPr lang="en-US" sz="1600" dirty="0"/>
          </a:p>
        </p:txBody>
      </p:sp>
      <p:sp>
        <p:nvSpPr>
          <p:cNvPr id="28" name="Text 21"/>
          <p:cNvSpPr txBox="1"/>
          <p:nvPr/>
        </p:nvSpPr>
        <p:spPr>
          <a:xfrm>
            <a:off x="9784080" y="3703320"/>
            <a:ext cx="1600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474"/>
                </a:solidFill>
              </a:rPr>
              <a:t>Relatórios e relatório anual</a:t>
            </a:r>
            <a:endParaRPr lang="en-US" sz="1300" dirty="0"/>
          </a:p>
        </p:txBody>
      </p:sp>
      <p:sp>
        <p:nvSpPr>
          <p:cNvPr id="29" name="Text 22"/>
          <p:cNvSpPr txBox="1"/>
          <p:nvPr/>
        </p:nvSpPr>
        <p:spPr>
          <a:xfrm>
            <a:off x="548640" y="5943600"/>
            <a:ext cx="9601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474"/>
                </a:solidFill>
              </a:rPr>
              <a:t>Sistema: Relatório de Emails e Definições (perfil, utilizadores, lembretes, repositório, tema e língua).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0936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47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A jornada organiza a lei em oito secções</a:t>
            </a:r>
            <a:endParaRPr lang="en-US" sz="3200" dirty="0"/>
          </a:p>
        </p:txBody>
      </p:sp>
      <p:sp>
        <p:nvSpPr>
          <p:cNvPr id="3" name="card-38"/>
          <p:cNvSpPr/>
          <p:nvPr/>
        </p:nvSpPr>
        <p:spPr>
          <a:xfrm>
            <a:off x="548640" y="1417320"/>
            <a:ext cx="2606040" cy="1325880"/>
          </a:xfrm>
          <a:prstGeom prst="roundRect">
            <a:avLst>
              <a:gd name="adj" fmla="val 8276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" name="sec-A"/>
          <p:cNvSpPr/>
          <p:nvPr/>
        </p:nvSpPr>
        <p:spPr>
          <a:xfrm>
            <a:off x="749808" y="1691640"/>
            <a:ext cx="566928" cy="566928"/>
          </a:xfrm>
          <a:prstGeom prst="ellipse">
            <a:avLst/>
          </a:prstGeom>
          <a:solidFill>
            <a:srgbClr val="070A13"/>
          </a:solidFill>
          <a:ln w="12700">
            <a:solidFill>
              <a:srgbClr val="070A1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49808" y="16916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FA04A"/>
                </a:solidFill>
              </a:rPr>
              <a:t>A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1463040" y="1645920"/>
            <a:ext cx="1600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11827"/>
                </a:solidFill>
              </a:rPr>
              <a:t>Âmbito e qualificação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2331720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474"/>
                </a:solidFill>
              </a:rPr>
              <a:t>7 tarefas</a:t>
            </a:r>
            <a:endParaRPr lang="en-US" sz="1200" dirty="0"/>
          </a:p>
        </p:txBody>
      </p:sp>
      <p:sp>
        <p:nvSpPr>
          <p:cNvPr id="8" name="card-39"/>
          <p:cNvSpPr/>
          <p:nvPr/>
        </p:nvSpPr>
        <p:spPr>
          <a:xfrm>
            <a:off x="3337560" y="1417320"/>
            <a:ext cx="2606040" cy="1325880"/>
          </a:xfrm>
          <a:prstGeom prst="roundRect">
            <a:avLst>
              <a:gd name="adj" fmla="val 8276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" name="sec-B"/>
          <p:cNvSpPr/>
          <p:nvPr/>
        </p:nvSpPr>
        <p:spPr>
          <a:xfrm>
            <a:off x="3538728" y="1691640"/>
            <a:ext cx="566928" cy="566928"/>
          </a:xfrm>
          <a:prstGeom prst="ellipse">
            <a:avLst/>
          </a:prstGeom>
          <a:solidFill>
            <a:srgbClr val="070A13"/>
          </a:solidFill>
          <a:ln w="12700">
            <a:solidFill>
              <a:srgbClr val="070A1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538728" y="16916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FA04A"/>
                </a:solidFill>
              </a:rPr>
              <a:t>B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4251960" y="1645920"/>
            <a:ext cx="1600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11827"/>
                </a:solidFill>
              </a:rPr>
              <a:t>Governação e responsáveis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251960" y="2331720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474"/>
                </a:solidFill>
              </a:rPr>
              <a:t>5 tarefas</a:t>
            </a:r>
            <a:endParaRPr lang="en-US" sz="1200" dirty="0"/>
          </a:p>
        </p:txBody>
      </p:sp>
      <p:sp>
        <p:nvSpPr>
          <p:cNvPr id="13" name="card-40"/>
          <p:cNvSpPr/>
          <p:nvPr/>
        </p:nvSpPr>
        <p:spPr>
          <a:xfrm>
            <a:off x="6126480" y="1417320"/>
            <a:ext cx="2606040" cy="1325880"/>
          </a:xfrm>
          <a:prstGeom prst="roundRect">
            <a:avLst>
              <a:gd name="adj" fmla="val 8276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" name="sec-C"/>
          <p:cNvSpPr/>
          <p:nvPr/>
        </p:nvSpPr>
        <p:spPr>
          <a:xfrm>
            <a:off x="6327648" y="1691640"/>
            <a:ext cx="566928" cy="566928"/>
          </a:xfrm>
          <a:prstGeom prst="ellipse">
            <a:avLst/>
          </a:prstGeom>
          <a:solidFill>
            <a:srgbClr val="070A13"/>
          </a:solidFill>
          <a:ln w="12700">
            <a:solidFill>
              <a:srgbClr val="070A1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327648" y="16916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FA04A"/>
                </a:solidFill>
              </a:rPr>
              <a:t>C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7040880" y="1645920"/>
            <a:ext cx="1600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11827"/>
                </a:solidFill>
              </a:rPr>
              <a:t>Gestão dos riscos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7040880" y="2331720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474"/>
                </a:solidFill>
              </a:rPr>
              <a:t>3 tarefas</a:t>
            </a:r>
            <a:endParaRPr lang="en-US" sz="1200" dirty="0"/>
          </a:p>
        </p:txBody>
      </p:sp>
      <p:sp>
        <p:nvSpPr>
          <p:cNvPr id="18" name="card-41"/>
          <p:cNvSpPr/>
          <p:nvPr/>
        </p:nvSpPr>
        <p:spPr>
          <a:xfrm>
            <a:off x="8915400" y="1417320"/>
            <a:ext cx="2606040" cy="1325880"/>
          </a:xfrm>
          <a:prstGeom prst="roundRect">
            <a:avLst>
              <a:gd name="adj" fmla="val 8276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9" name="sec-D"/>
          <p:cNvSpPr/>
          <p:nvPr/>
        </p:nvSpPr>
        <p:spPr>
          <a:xfrm>
            <a:off x="9116568" y="1691640"/>
            <a:ext cx="566928" cy="566928"/>
          </a:xfrm>
          <a:prstGeom prst="ellipse">
            <a:avLst/>
          </a:prstGeom>
          <a:solidFill>
            <a:srgbClr val="070A13"/>
          </a:solidFill>
          <a:ln w="12700">
            <a:solidFill>
              <a:srgbClr val="070A1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116568" y="16916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FA04A"/>
                </a:solidFill>
              </a:rPr>
              <a:t>D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9829800" y="1645920"/>
            <a:ext cx="1600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11827"/>
                </a:solidFill>
              </a:rPr>
              <a:t>Medidas de cibersegurança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9829800" y="2331720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474"/>
                </a:solidFill>
              </a:rPr>
              <a:t>5 tarefas</a:t>
            </a:r>
            <a:endParaRPr lang="en-US" sz="1200" dirty="0"/>
          </a:p>
        </p:txBody>
      </p:sp>
      <p:sp>
        <p:nvSpPr>
          <p:cNvPr id="23" name="card-42"/>
          <p:cNvSpPr/>
          <p:nvPr/>
        </p:nvSpPr>
        <p:spPr>
          <a:xfrm>
            <a:off x="548640" y="2926080"/>
            <a:ext cx="2606040" cy="1325880"/>
          </a:xfrm>
          <a:prstGeom prst="roundRect">
            <a:avLst>
              <a:gd name="adj" fmla="val 8276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4" name="sec-E"/>
          <p:cNvSpPr/>
          <p:nvPr/>
        </p:nvSpPr>
        <p:spPr>
          <a:xfrm>
            <a:off x="749808" y="3200400"/>
            <a:ext cx="566928" cy="566928"/>
          </a:xfrm>
          <a:prstGeom prst="ellipse">
            <a:avLst/>
          </a:prstGeom>
          <a:solidFill>
            <a:srgbClr val="070A13"/>
          </a:solidFill>
          <a:ln w="12700">
            <a:solidFill>
              <a:srgbClr val="070A13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49808" y="32004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FA04A"/>
                </a:solidFill>
              </a:rPr>
              <a:t>E</a:t>
            </a:r>
            <a:endParaRPr lang="en-US" sz="2000" dirty="0"/>
          </a:p>
        </p:txBody>
      </p:sp>
      <p:sp>
        <p:nvSpPr>
          <p:cNvPr id="26" name="Text 24"/>
          <p:cNvSpPr txBox="1"/>
          <p:nvPr/>
        </p:nvSpPr>
        <p:spPr>
          <a:xfrm>
            <a:off x="1463040" y="3154680"/>
            <a:ext cx="1600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11827"/>
                </a:solidFill>
              </a:rPr>
              <a:t>Cadeia de abastecimento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1463040" y="3840480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474"/>
                </a:solidFill>
              </a:rPr>
              <a:t>3 tarefas</a:t>
            </a:r>
            <a:endParaRPr lang="en-US" sz="1200" dirty="0"/>
          </a:p>
        </p:txBody>
      </p:sp>
      <p:sp>
        <p:nvSpPr>
          <p:cNvPr id="28" name="card-43"/>
          <p:cNvSpPr/>
          <p:nvPr/>
        </p:nvSpPr>
        <p:spPr>
          <a:xfrm>
            <a:off x="3337560" y="2926080"/>
            <a:ext cx="2606040" cy="1325880"/>
          </a:xfrm>
          <a:prstGeom prst="roundRect">
            <a:avLst>
              <a:gd name="adj" fmla="val 8276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sec-F"/>
          <p:cNvSpPr/>
          <p:nvPr/>
        </p:nvSpPr>
        <p:spPr>
          <a:xfrm>
            <a:off x="3538728" y="3200400"/>
            <a:ext cx="566928" cy="566928"/>
          </a:xfrm>
          <a:prstGeom prst="ellipse">
            <a:avLst/>
          </a:prstGeom>
          <a:solidFill>
            <a:srgbClr val="070A13"/>
          </a:solidFill>
          <a:ln w="12700">
            <a:solidFill>
              <a:srgbClr val="070A13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3538728" y="32004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FA04A"/>
                </a:solidFill>
              </a:rPr>
              <a:t>F</a:t>
            </a:r>
            <a:endParaRPr lang="en-US" sz="2000" dirty="0"/>
          </a:p>
        </p:txBody>
      </p:sp>
      <p:sp>
        <p:nvSpPr>
          <p:cNvPr id="31" name="Text 29"/>
          <p:cNvSpPr txBox="1"/>
          <p:nvPr/>
        </p:nvSpPr>
        <p:spPr>
          <a:xfrm>
            <a:off x="4251960" y="3154680"/>
            <a:ext cx="1600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11827"/>
                </a:solidFill>
              </a:rPr>
              <a:t>Incidentes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4251960" y="3840480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474"/>
                </a:solidFill>
              </a:rPr>
              <a:t>5 tarefas</a:t>
            </a:r>
            <a:endParaRPr lang="en-US" sz="1200" dirty="0"/>
          </a:p>
        </p:txBody>
      </p:sp>
      <p:sp>
        <p:nvSpPr>
          <p:cNvPr id="33" name="card-44"/>
          <p:cNvSpPr/>
          <p:nvPr/>
        </p:nvSpPr>
        <p:spPr>
          <a:xfrm>
            <a:off x="6126480" y="2926080"/>
            <a:ext cx="2606040" cy="1325880"/>
          </a:xfrm>
          <a:prstGeom prst="roundRect">
            <a:avLst>
              <a:gd name="adj" fmla="val 8276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4" name="sec-G"/>
          <p:cNvSpPr/>
          <p:nvPr/>
        </p:nvSpPr>
        <p:spPr>
          <a:xfrm>
            <a:off x="6327648" y="3200400"/>
            <a:ext cx="566928" cy="566928"/>
          </a:xfrm>
          <a:prstGeom prst="ellipse">
            <a:avLst/>
          </a:prstGeom>
          <a:solidFill>
            <a:srgbClr val="070A13"/>
          </a:solidFill>
          <a:ln w="12700">
            <a:solidFill>
              <a:srgbClr val="070A13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327648" y="32004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FA04A"/>
                </a:solidFill>
              </a:rPr>
              <a:t>G</a:t>
            </a:r>
            <a:endParaRPr lang="en-US" sz="2000" dirty="0"/>
          </a:p>
        </p:txBody>
      </p:sp>
      <p:sp>
        <p:nvSpPr>
          <p:cNvPr id="36" name="Text 34"/>
          <p:cNvSpPr txBox="1"/>
          <p:nvPr/>
        </p:nvSpPr>
        <p:spPr>
          <a:xfrm>
            <a:off x="7040880" y="3154680"/>
            <a:ext cx="1600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11827"/>
                </a:solidFill>
              </a:rPr>
              <a:t>Formação e sensibilização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7040880" y="3840480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474"/>
                </a:solidFill>
              </a:rPr>
              <a:t>3 tarefas</a:t>
            </a:r>
            <a:endParaRPr lang="en-US" sz="1200" dirty="0"/>
          </a:p>
        </p:txBody>
      </p:sp>
      <p:sp>
        <p:nvSpPr>
          <p:cNvPr id="38" name="card-45"/>
          <p:cNvSpPr/>
          <p:nvPr/>
        </p:nvSpPr>
        <p:spPr>
          <a:xfrm>
            <a:off x="8915400" y="2926080"/>
            <a:ext cx="2606040" cy="1325880"/>
          </a:xfrm>
          <a:prstGeom prst="roundRect">
            <a:avLst>
              <a:gd name="adj" fmla="val 8276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9" name="sec-H"/>
          <p:cNvSpPr/>
          <p:nvPr/>
        </p:nvSpPr>
        <p:spPr>
          <a:xfrm>
            <a:off x="9116568" y="3200400"/>
            <a:ext cx="566928" cy="566928"/>
          </a:xfrm>
          <a:prstGeom prst="ellipse">
            <a:avLst/>
          </a:prstGeom>
          <a:solidFill>
            <a:srgbClr val="070A13"/>
          </a:solidFill>
          <a:ln w="12700">
            <a:solidFill>
              <a:srgbClr val="070A13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9116568" y="32004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FA04A"/>
                </a:solidFill>
              </a:rPr>
              <a:t>H</a:t>
            </a:r>
            <a:endParaRPr lang="en-US" sz="2000" dirty="0"/>
          </a:p>
        </p:txBody>
      </p:sp>
      <p:sp>
        <p:nvSpPr>
          <p:cNvPr id="41" name="Text 39"/>
          <p:cNvSpPr txBox="1"/>
          <p:nvPr/>
        </p:nvSpPr>
        <p:spPr>
          <a:xfrm>
            <a:off x="9829800" y="3154680"/>
            <a:ext cx="1600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11827"/>
                </a:solidFill>
              </a:rPr>
              <a:t>Relatórios e supervisão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9829800" y="3840480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474"/>
                </a:solidFill>
              </a:rPr>
              <a:t>4 tarefas</a:t>
            </a:r>
            <a:endParaRPr lang="en-US" sz="1200" dirty="0"/>
          </a:p>
        </p:txBody>
      </p:sp>
      <p:sp>
        <p:nvSpPr>
          <p:cNvPr id="43" name="card-46"/>
          <p:cNvSpPr/>
          <p:nvPr/>
        </p:nvSpPr>
        <p:spPr>
          <a:xfrm>
            <a:off x="548640" y="4572000"/>
            <a:ext cx="1106424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exemplo"/>
          <p:cNvSpPr/>
          <p:nvPr/>
        </p:nvSpPr>
        <p:spPr>
          <a:xfrm>
            <a:off x="548640" y="4572000"/>
            <a:ext cx="1106424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DDE2EA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822960" y="47091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6620"/>
                </a:solidFill>
              </a:rPr>
              <a:t>EXEMPLO DE TAREFA</a:t>
            </a:r>
            <a:endParaRPr lang="en-US" sz="1100" dirty="0"/>
          </a:p>
        </p:txBody>
      </p:sp>
      <p:sp>
        <p:nvSpPr>
          <p:cNvPr id="46" name="Text 44"/>
          <p:cNvSpPr txBox="1"/>
          <p:nvPr/>
        </p:nvSpPr>
        <p:spPr>
          <a:xfrm>
            <a:off x="822960" y="5029200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11827"/>
                </a:solidFill>
              </a:rPr>
              <a:t>Nomear o responsável de cibersegurança e comunicá-lo em 20 dias úteis</a:t>
            </a:r>
            <a:endParaRPr lang="en-US" sz="1700" dirty="0"/>
          </a:p>
        </p:txBody>
      </p:sp>
      <p:sp>
        <p:nvSpPr>
          <p:cNvPr id="47" name="Text 45"/>
          <p:cNvSpPr txBox="1"/>
          <p:nvPr/>
        </p:nvSpPr>
        <p:spPr>
          <a:xfrm>
            <a:off x="822960" y="5486400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474"/>
                </a:solidFill>
              </a:rPr>
              <a:t>RJC, art. 31.º, n.os 1, 3 e 4; Reg. 756/2026, art. 14.º    ·    estado, responsável, data-alvo, notas e evidências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0936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47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Cada medida diz o que guardar como evidência</a:t>
            </a:r>
            <a:endParaRPr lang="en-US" sz="3200" dirty="0"/>
          </a:p>
        </p:txBody>
      </p:sp>
      <p:sp>
        <p:nvSpPr>
          <p:cNvPr id="3" name="medida"/>
          <p:cNvSpPr/>
          <p:nvPr/>
        </p:nvSpPr>
        <p:spPr>
          <a:xfrm>
            <a:off x="548640" y="1417320"/>
            <a:ext cx="5760720" cy="32918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DDE2E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4592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8A6620"/>
                </a:solidFill>
              </a:rPr>
              <a:t>GR.CO-1   ·   nível Substancial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011680"/>
            <a:ext cx="5303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11827"/>
                </a:solidFill>
              </a:rPr>
              <a:t>A missão, visão, estratégia de gestão dos riscos e objetivos da entidade são definidos e comunicados.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971800"/>
            <a:ext cx="5303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7766C"/>
                </a:solidFill>
              </a:rPr>
              <a:t>O que guardar como evidência: </a:t>
            </a:r>
            <a:pPr indent="0" marL="0">
              <a:buNone/>
            </a:pPr>
            <a:r>
              <a:rPr lang="en-US" sz="1300" dirty="0">
                <a:solidFill>
                  <a:srgbClr val="111827"/>
                </a:solidFill>
              </a:rPr>
              <a:t>Registo documentado da missão, visão, estratégia de gestão do risco e objetivos no âmbito da cibersegurança e respetivas prioridades.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416052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474"/>
                </a:solidFill>
              </a:rPr>
              <a:t>Reg. 756/2026, Anexo III — GR.CO-1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4846320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5B6474"/>
                </a:solidFill>
              </a:rPr>
              <a:t>Exemplo real da Biblioteca Legal › Conformidade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6766560" y="141732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7766C"/>
                </a:solidFill>
              </a:rPr>
              <a:t>Ciclo de vida de uma evidência</a:t>
            </a:r>
            <a:endParaRPr lang="en-US" sz="1600" dirty="0"/>
          </a:p>
        </p:txBody>
      </p:sp>
      <p:sp>
        <p:nvSpPr>
          <p:cNvPr id="10" name="card-47"/>
          <p:cNvSpPr/>
          <p:nvPr/>
        </p:nvSpPr>
        <p:spPr>
          <a:xfrm>
            <a:off x="6766560" y="1920240"/>
            <a:ext cx="2377440" cy="548640"/>
          </a:xfrm>
          <a:prstGeom prst="roundRect">
            <a:avLst>
              <a:gd name="adj" fmla="val 2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766560" y="192024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827"/>
                </a:solidFill>
              </a:rPr>
              <a:t>Por rever</a:t>
            </a:r>
            <a:endParaRPr lang="en-US" sz="1400" dirty="0"/>
          </a:p>
        </p:txBody>
      </p:sp>
      <p:sp>
        <p:nvSpPr>
          <p:cNvPr id="12" name="card-48"/>
          <p:cNvSpPr/>
          <p:nvPr/>
        </p:nvSpPr>
        <p:spPr>
          <a:xfrm>
            <a:off x="6766560" y="2633472"/>
            <a:ext cx="2377440" cy="548640"/>
          </a:xfrm>
          <a:prstGeom prst="roundRect">
            <a:avLst>
              <a:gd name="adj" fmla="val 20000"/>
            </a:avLst>
          </a:prstGeom>
          <a:solidFill>
            <a:srgbClr val="26A699"/>
          </a:solidFill>
          <a:ln w="12700">
            <a:solidFill>
              <a:srgbClr val="26A69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766560" y="2633472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Aceite e válida</a:t>
            </a:r>
            <a:endParaRPr lang="en-US" sz="1400" dirty="0"/>
          </a:p>
        </p:txBody>
      </p:sp>
      <p:sp>
        <p:nvSpPr>
          <p:cNvPr id="14" name="card-49"/>
          <p:cNvSpPr/>
          <p:nvPr/>
        </p:nvSpPr>
        <p:spPr>
          <a:xfrm>
            <a:off x="6766560" y="3346704"/>
            <a:ext cx="2377440" cy="548640"/>
          </a:xfrm>
          <a:prstGeom prst="roundRect">
            <a:avLst>
              <a:gd name="adj" fmla="val 20000"/>
            </a:avLst>
          </a:prstGeom>
          <a:solidFill>
            <a:srgbClr val="F7F2E7"/>
          </a:solidFill>
          <a:ln w="12700">
            <a:solidFill>
              <a:srgbClr val="F7F2E7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766560" y="3346704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827"/>
                </a:solidFill>
              </a:rPr>
              <a:t>Expirada</a:t>
            </a:r>
            <a:endParaRPr lang="en-US" sz="1400" dirty="0"/>
          </a:p>
        </p:txBody>
      </p:sp>
      <p:sp>
        <p:nvSpPr>
          <p:cNvPr id="16" name="card-50"/>
          <p:cNvSpPr/>
          <p:nvPr/>
        </p:nvSpPr>
        <p:spPr>
          <a:xfrm>
            <a:off x="6766560" y="4059936"/>
            <a:ext cx="2377440" cy="548640"/>
          </a:xfrm>
          <a:prstGeom prst="roundRect">
            <a:avLst>
              <a:gd name="adj" fmla="val 2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766560" y="4059936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827"/>
                </a:solidFill>
              </a:rPr>
              <a:t>Substituída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9326880" y="192024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474"/>
                </a:solidFill>
              </a:rPr>
              <a:t>Carregada; o consultor revê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9326880" y="2633472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474"/>
                </a:solidFill>
              </a:rPr>
              <a:t>Cumpre o critério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9326880" y="3346704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474"/>
                </a:solidFill>
              </a:rPr>
              <a:t>Passou a data de validade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9326880" y="4059936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474"/>
                </a:solidFill>
              </a:rPr>
              <a:t>Há uma versão nova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6766560" y="484632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11827"/>
                </a:solidFill>
              </a:rPr>
              <a:t>Regras: </a:t>
            </a:r>
            <a:pPr indent="0" marL="0">
              <a:buNone/>
            </a:pPr>
            <a:r>
              <a:rPr lang="en-US" sz="1300" dirty="0">
                <a:solidFill>
                  <a:srgbClr val="111827"/>
                </a:solidFill>
              </a:rPr>
              <a:t>ficheiros até 8 MB, nunca públicos; cada abertura fica registada; evidências de ativos são restritas.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0936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47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Carregue o que já tem: a plataforma propõe onde pertence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3444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474"/>
                </a:solidFill>
              </a:rPr>
              <a:t>Governar › Repositório documental: todos os ficheiros do cliente nas mesmas 13 pastas, no repositório escolhido (plataforma, Google Drive, OneDrive ou NAS).</a:t>
            </a:r>
            <a:endParaRPr lang="en-US" sz="1500" dirty="0"/>
          </a:p>
        </p:txBody>
      </p:sp>
      <p:sp>
        <p:nvSpPr>
          <p:cNvPr id="4" name="card-51"/>
          <p:cNvSpPr/>
          <p:nvPr/>
        </p:nvSpPr>
        <p:spPr>
          <a:xfrm>
            <a:off x="548640" y="1874520"/>
            <a:ext cx="2606040" cy="2423160"/>
          </a:xfrm>
          <a:prstGeom prst="roundRect">
            <a:avLst>
              <a:gd name="adj" fmla="val 4528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" name="icon-bg-52"/>
          <p:cNvSpPr/>
          <p:nvPr/>
        </p:nvSpPr>
        <p:spPr>
          <a:xfrm>
            <a:off x="777240" y="2103120"/>
            <a:ext cx="640080" cy="640080"/>
          </a:xfrm>
          <a:prstGeom prst="ellipse">
            <a:avLst/>
          </a:prstGeom>
          <a:solidFill>
            <a:srgbClr val="070A13"/>
          </a:solidFill>
          <a:ln w="12700">
            <a:solidFill>
              <a:srgbClr val="070A13"/>
            </a:solidFill>
            <a:prstDash val="solid"/>
          </a:ln>
        </p:spPr>
      </p:sp>
      <p:pic>
        <p:nvPicPr>
          <p:cNvPr id="6" name="icon-52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058" y="2243938"/>
            <a:ext cx="358445" cy="358445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77240" y="288036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11827"/>
                </a:solidFill>
              </a:rPr>
              <a:t>Carregar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337560"/>
            <a:ext cx="2194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474"/>
                </a:solidFill>
              </a:rPr>
              <a:t>Na área Por classificar, ou diretamente na pasta «00 Por classificar» e Procurar na pasta</a:t>
            </a:r>
            <a:endParaRPr lang="en-US" sz="1300" dirty="0"/>
          </a:p>
        </p:txBody>
      </p:sp>
      <p:sp>
        <p:nvSpPr>
          <p:cNvPr id="9" name="seta-rep-0"/>
          <p:cNvSpPr/>
          <p:nvPr/>
        </p:nvSpPr>
        <p:spPr>
          <a:xfrm>
            <a:off x="3182112" y="3108960"/>
            <a:ext cx="128016" cy="320040"/>
          </a:xfrm>
          <a:prstGeom prst="chevron">
            <a:avLst/>
          </a:prstGeom>
          <a:solidFill>
            <a:srgbClr val="CFA04A"/>
          </a:solidFill>
          <a:ln w="12700">
            <a:solidFill>
              <a:srgbClr val="CFA04A"/>
            </a:solidFill>
            <a:prstDash val="solid"/>
          </a:ln>
        </p:spPr>
      </p:sp>
      <p:sp>
        <p:nvSpPr>
          <p:cNvPr id="10" name="card-53"/>
          <p:cNvSpPr/>
          <p:nvPr/>
        </p:nvSpPr>
        <p:spPr>
          <a:xfrm>
            <a:off x="3337560" y="1874520"/>
            <a:ext cx="2606040" cy="2423160"/>
          </a:xfrm>
          <a:prstGeom prst="roundRect">
            <a:avLst>
              <a:gd name="adj" fmla="val 4528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" name="icon-bg-54"/>
          <p:cNvSpPr/>
          <p:nvPr/>
        </p:nvSpPr>
        <p:spPr>
          <a:xfrm>
            <a:off x="3566160" y="2103120"/>
            <a:ext cx="640080" cy="640080"/>
          </a:xfrm>
          <a:prstGeom prst="ellipse">
            <a:avLst/>
          </a:prstGeom>
          <a:solidFill>
            <a:srgbClr val="070A13"/>
          </a:solidFill>
          <a:ln w="12700">
            <a:solidFill>
              <a:srgbClr val="070A13"/>
            </a:solidFill>
            <a:prstDash val="solid"/>
          </a:ln>
        </p:spPr>
      </p:sp>
      <p:pic>
        <p:nvPicPr>
          <p:cNvPr id="12" name="icon-54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06978" y="2243938"/>
            <a:ext cx="358445" cy="358445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566160" y="288036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11827"/>
                </a:solidFill>
              </a:rPr>
              <a:t>Pré-selecionar</a:t>
            </a:r>
            <a:endParaRPr lang="en-US" sz="1700" dirty="0"/>
          </a:p>
        </p:txBody>
      </p:sp>
      <p:sp>
        <p:nvSpPr>
          <p:cNvPr id="14" name="Text 10"/>
          <p:cNvSpPr txBox="1"/>
          <p:nvPr/>
        </p:nvSpPr>
        <p:spPr>
          <a:xfrm>
            <a:off x="3566160" y="3337560"/>
            <a:ext cx="2194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474"/>
                </a:solidFill>
              </a:rPr>
              <a:t>Sem IA: medidas, tarefas e controlos ISO com texto parecido</a:t>
            </a:r>
            <a:endParaRPr lang="en-US" sz="1300" dirty="0"/>
          </a:p>
        </p:txBody>
      </p:sp>
      <p:sp>
        <p:nvSpPr>
          <p:cNvPr id="15" name="seta-rep-1"/>
          <p:cNvSpPr/>
          <p:nvPr/>
        </p:nvSpPr>
        <p:spPr>
          <a:xfrm>
            <a:off x="5971032" y="3108960"/>
            <a:ext cx="128016" cy="320040"/>
          </a:xfrm>
          <a:prstGeom prst="chevron">
            <a:avLst/>
          </a:prstGeom>
          <a:solidFill>
            <a:srgbClr val="CFA04A"/>
          </a:solidFill>
          <a:ln w="12700">
            <a:solidFill>
              <a:srgbClr val="CFA04A"/>
            </a:solidFill>
            <a:prstDash val="solid"/>
          </a:ln>
        </p:spPr>
      </p:sp>
      <p:sp>
        <p:nvSpPr>
          <p:cNvPr id="16" name="card-55"/>
          <p:cNvSpPr/>
          <p:nvPr/>
        </p:nvSpPr>
        <p:spPr>
          <a:xfrm>
            <a:off x="6126480" y="1874520"/>
            <a:ext cx="2606040" cy="2423160"/>
          </a:xfrm>
          <a:prstGeom prst="roundRect">
            <a:avLst>
              <a:gd name="adj" fmla="val 4528"/>
            </a:avLst>
          </a:prstGeom>
          <a:solidFill>
            <a:srgbClr val="070A13"/>
          </a:solidFill>
          <a:ln w="12700">
            <a:solidFill>
              <a:srgbClr val="070A13"/>
            </a:solidFill>
            <a:prstDash val="solid"/>
          </a:ln>
        </p:spPr>
      </p:sp>
      <p:sp>
        <p:nvSpPr>
          <p:cNvPr id="17" name="icon-bg-56"/>
          <p:cNvSpPr/>
          <p:nvPr/>
        </p:nvSpPr>
        <p:spPr>
          <a:xfrm>
            <a:off x="6355080" y="2103120"/>
            <a:ext cx="640080" cy="640080"/>
          </a:xfrm>
          <a:prstGeom prst="ellipse">
            <a:avLst/>
          </a:prstGeom>
          <a:solidFill>
            <a:srgbClr val="CFA04A"/>
          </a:solidFill>
          <a:ln w="12700">
            <a:solidFill>
              <a:srgbClr val="CFA04A"/>
            </a:solidFill>
            <a:prstDash val="solid"/>
          </a:ln>
        </p:spPr>
      </p:sp>
      <p:pic>
        <p:nvPicPr>
          <p:cNvPr id="18" name="icon-56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5898" y="2243938"/>
            <a:ext cx="358445" cy="358445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6355080" y="288036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Classificar</a:t>
            </a:r>
            <a:endParaRPr lang="en-US" sz="1700" dirty="0"/>
          </a:p>
        </p:txBody>
      </p:sp>
      <p:sp>
        <p:nvSpPr>
          <p:cNvPr id="20" name="Text 15"/>
          <p:cNvSpPr txBox="1"/>
          <p:nvPr/>
        </p:nvSpPr>
        <p:spPr>
          <a:xfrm>
            <a:off x="6355080" y="3337560"/>
            <a:ext cx="2194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6E9EF"/>
                </a:solidFill>
              </a:rPr>
              <a:t>A IA propõe o tipo e até 8 ligações, cada uma com excerto e confiança; até 25 de cada vez</a:t>
            </a:r>
            <a:endParaRPr lang="en-US" sz="1300" dirty="0"/>
          </a:p>
        </p:txBody>
      </p:sp>
      <p:sp>
        <p:nvSpPr>
          <p:cNvPr id="21" name="seta-rep-2"/>
          <p:cNvSpPr/>
          <p:nvPr/>
        </p:nvSpPr>
        <p:spPr>
          <a:xfrm>
            <a:off x="8759952" y="3108960"/>
            <a:ext cx="128016" cy="320040"/>
          </a:xfrm>
          <a:prstGeom prst="chevron">
            <a:avLst/>
          </a:prstGeom>
          <a:solidFill>
            <a:srgbClr val="CFA04A"/>
          </a:solidFill>
          <a:ln w="12700">
            <a:solidFill>
              <a:srgbClr val="CFA04A"/>
            </a:solidFill>
            <a:prstDash val="solid"/>
          </a:ln>
        </p:spPr>
      </p:sp>
      <p:sp>
        <p:nvSpPr>
          <p:cNvPr id="22" name="card-57"/>
          <p:cNvSpPr/>
          <p:nvPr/>
        </p:nvSpPr>
        <p:spPr>
          <a:xfrm>
            <a:off x="8915400" y="1874520"/>
            <a:ext cx="2606040" cy="2423160"/>
          </a:xfrm>
          <a:prstGeom prst="roundRect">
            <a:avLst>
              <a:gd name="adj" fmla="val 4528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3" name="icon-bg-58"/>
          <p:cNvSpPr/>
          <p:nvPr/>
        </p:nvSpPr>
        <p:spPr>
          <a:xfrm>
            <a:off x="9144000" y="2103120"/>
            <a:ext cx="640080" cy="640080"/>
          </a:xfrm>
          <a:prstGeom prst="ellipse">
            <a:avLst/>
          </a:prstGeom>
          <a:solidFill>
            <a:srgbClr val="070A13"/>
          </a:solidFill>
          <a:ln w="12700">
            <a:solidFill>
              <a:srgbClr val="070A13"/>
            </a:solidFill>
            <a:prstDash val="solid"/>
          </a:ln>
        </p:spPr>
      </p:sp>
      <p:pic>
        <p:nvPicPr>
          <p:cNvPr id="24" name="icon-58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84818" y="2243938"/>
            <a:ext cx="358445" cy="358445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9144000" y="288036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11827"/>
                </a:solidFill>
              </a:rPr>
              <a:t>Rever e indexar</a:t>
            </a:r>
            <a:endParaRPr lang="en-US" sz="1700" dirty="0"/>
          </a:p>
        </p:txBody>
      </p:sp>
      <p:sp>
        <p:nvSpPr>
          <p:cNvPr id="26" name="Text 20"/>
          <p:cNvSpPr txBox="1"/>
          <p:nvPr/>
        </p:nvSpPr>
        <p:spPr>
          <a:xfrm>
            <a:off x="9144000" y="3337560"/>
            <a:ext cx="2194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474"/>
                </a:solidFill>
              </a:rPr>
              <a:t>Uma pessoa confirma; nasce uma evidência Por rever; nada muda de estado sozinho</a:t>
            </a:r>
            <a:endParaRPr lang="en-US" sz="1300" dirty="0"/>
          </a:p>
        </p:txBody>
      </p:sp>
      <p:sp>
        <p:nvSpPr>
          <p:cNvPr id="27" name="card-59"/>
          <p:cNvSpPr/>
          <p:nvPr/>
        </p:nvSpPr>
        <p:spPr>
          <a:xfrm>
            <a:off x="548640" y="457200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E6F5F3"/>
          </a:solidFill>
          <a:ln w="12700">
            <a:solidFill>
              <a:srgbClr val="E6F5F3"/>
            </a:solidFill>
            <a:prstDash val="solid"/>
          </a:ln>
        </p:spPr>
      </p:sp>
      <p:sp>
        <p:nvSpPr>
          <p:cNvPr id="28" name="Text 22"/>
          <p:cNvSpPr txBox="1"/>
          <p:nvPr/>
        </p:nvSpPr>
        <p:spPr>
          <a:xfrm>
            <a:off x="822960" y="470916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766C"/>
                </a:solidFill>
              </a:rPr>
              <a:t>Qualidade das propostas: </a:t>
            </a:r>
            <a:pPr indent="0" marL="0">
              <a:buNone/>
            </a:pPr>
            <a:r>
              <a:rPr lang="en-US" sz="1400" dirty="0">
                <a:solidFill>
                  <a:srgbClr val="111827"/>
                </a:solidFill>
              </a:rPr>
              <a:t>quantas ligações propostas as pessoas mantêm, por nível de confiança. Documentos com endereços de ativos expostos à Internet nunca seguem para a IA.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0936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47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Avaliar a maturidade de 0 a 5 e transformar lacunas em tarefas</a:t>
            </a:r>
            <a:endParaRPr lang="en-US" sz="3200" dirty="0"/>
          </a:p>
        </p:txBody>
      </p:sp>
      <p:sp>
        <p:nvSpPr>
          <p:cNvPr id="3" name="card-60"/>
          <p:cNvSpPr/>
          <p:nvPr/>
        </p:nvSpPr>
        <p:spPr>
          <a:xfrm>
            <a:off x="548640" y="1508760"/>
            <a:ext cx="1737360" cy="1417320"/>
          </a:xfrm>
          <a:prstGeom prst="roundRect">
            <a:avLst>
              <a:gd name="adj" fmla="val 7742"/>
            </a:avLst>
          </a:prstGeom>
          <a:solidFill>
            <a:srgbClr val="E9EDF2"/>
          </a:solidFill>
          <a:ln w="12700">
            <a:solidFill>
              <a:srgbClr val="E9EDF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60020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70A13"/>
                </a:solidFill>
              </a:rPr>
              <a:t>0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33172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11827"/>
                </a:solidFill>
              </a:rPr>
              <a:t>Inexistente</a:t>
            </a:r>
            <a:endParaRPr lang="en-US" sz="1300" dirty="0"/>
          </a:p>
        </p:txBody>
      </p:sp>
      <p:sp>
        <p:nvSpPr>
          <p:cNvPr id="6" name="card-61"/>
          <p:cNvSpPr/>
          <p:nvPr/>
        </p:nvSpPr>
        <p:spPr>
          <a:xfrm>
            <a:off x="2404872" y="1508760"/>
            <a:ext cx="1737360" cy="1417320"/>
          </a:xfrm>
          <a:prstGeom prst="roundRect">
            <a:avLst>
              <a:gd name="adj" fmla="val 7742"/>
            </a:avLst>
          </a:prstGeom>
          <a:solidFill>
            <a:srgbClr val="DCE2EA"/>
          </a:solidFill>
          <a:ln w="12700">
            <a:solidFill>
              <a:srgbClr val="DCE2E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404872" y="160020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70A13"/>
                </a:solidFill>
              </a:rPr>
              <a:t>1</a:t>
            </a:r>
            <a:endParaRPr lang="en-US" sz="3600" dirty="0"/>
          </a:p>
        </p:txBody>
      </p:sp>
      <p:sp>
        <p:nvSpPr>
          <p:cNvPr id="8" name="Text 6"/>
          <p:cNvSpPr txBox="1"/>
          <p:nvPr/>
        </p:nvSpPr>
        <p:spPr>
          <a:xfrm>
            <a:off x="2496312" y="233172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11827"/>
                </a:solidFill>
              </a:rPr>
              <a:t>Inicial</a:t>
            </a:r>
            <a:endParaRPr lang="en-US" sz="1300" dirty="0"/>
          </a:p>
        </p:txBody>
      </p:sp>
      <p:sp>
        <p:nvSpPr>
          <p:cNvPr id="9" name="card-62"/>
          <p:cNvSpPr/>
          <p:nvPr/>
        </p:nvSpPr>
        <p:spPr>
          <a:xfrm>
            <a:off x="4261104" y="1508760"/>
            <a:ext cx="1737360" cy="1417320"/>
          </a:xfrm>
          <a:prstGeom prst="roundRect">
            <a:avLst>
              <a:gd name="adj" fmla="val 7742"/>
            </a:avLst>
          </a:prstGeom>
          <a:solidFill>
            <a:srgbClr val="C6CFDB"/>
          </a:solidFill>
          <a:ln w="12700">
            <a:solidFill>
              <a:srgbClr val="C6CFD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261104" y="160020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70A13"/>
                </a:solidFill>
              </a:rPr>
              <a:t>2</a:t>
            </a:r>
            <a:endParaRPr lang="en-US" sz="3600" dirty="0"/>
          </a:p>
        </p:txBody>
      </p:sp>
      <p:sp>
        <p:nvSpPr>
          <p:cNvPr id="11" name="Text 9"/>
          <p:cNvSpPr txBox="1"/>
          <p:nvPr/>
        </p:nvSpPr>
        <p:spPr>
          <a:xfrm>
            <a:off x="4352544" y="233172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11827"/>
                </a:solidFill>
              </a:rPr>
              <a:t>Em desenvolvimento</a:t>
            </a:r>
            <a:endParaRPr lang="en-US" sz="1300" dirty="0"/>
          </a:p>
        </p:txBody>
      </p:sp>
      <p:sp>
        <p:nvSpPr>
          <p:cNvPr id="12" name="card-63"/>
          <p:cNvSpPr/>
          <p:nvPr/>
        </p:nvSpPr>
        <p:spPr>
          <a:xfrm>
            <a:off x="6117336" y="1508760"/>
            <a:ext cx="1737360" cy="1417320"/>
          </a:xfrm>
          <a:prstGeom prst="roundRect">
            <a:avLst>
              <a:gd name="adj" fmla="val 7742"/>
            </a:avLst>
          </a:prstGeom>
          <a:solidFill>
            <a:srgbClr val="9AA7BA"/>
          </a:solidFill>
          <a:ln w="12700">
            <a:solidFill>
              <a:srgbClr val="9AA7B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117336" y="160020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70A13"/>
                </a:solidFill>
              </a:rPr>
              <a:t>3</a:t>
            </a:r>
            <a:endParaRPr lang="en-US" sz="3600" dirty="0"/>
          </a:p>
        </p:txBody>
      </p:sp>
      <p:sp>
        <p:nvSpPr>
          <p:cNvPr id="14" name="Text 12"/>
          <p:cNvSpPr txBox="1"/>
          <p:nvPr/>
        </p:nvSpPr>
        <p:spPr>
          <a:xfrm>
            <a:off x="6208776" y="233172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11827"/>
                </a:solidFill>
              </a:rPr>
              <a:t>Definido</a:t>
            </a:r>
            <a:endParaRPr lang="en-US" sz="1300" dirty="0"/>
          </a:p>
        </p:txBody>
      </p:sp>
      <p:sp>
        <p:nvSpPr>
          <p:cNvPr id="15" name="card-64"/>
          <p:cNvSpPr/>
          <p:nvPr/>
        </p:nvSpPr>
        <p:spPr>
          <a:xfrm>
            <a:off x="7973568" y="1508760"/>
            <a:ext cx="1737360" cy="1417320"/>
          </a:xfrm>
          <a:prstGeom prst="roundRect">
            <a:avLst>
              <a:gd name="adj" fmla="val 7742"/>
            </a:avLst>
          </a:prstGeom>
          <a:solidFill>
            <a:srgbClr val="CFA04A"/>
          </a:solidFill>
          <a:ln w="12700">
            <a:solidFill>
              <a:srgbClr val="CFA04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973568" y="160020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70A13"/>
                </a:solidFill>
              </a:rPr>
              <a:t>4</a:t>
            </a:r>
            <a:endParaRPr lang="en-US" sz="3600" dirty="0"/>
          </a:p>
        </p:txBody>
      </p:sp>
      <p:sp>
        <p:nvSpPr>
          <p:cNvPr id="17" name="Text 15"/>
          <p:cNvSpPr txBox="1"/>
          <p:nvPr/>
        </p:nvSpPr>
        <p:spPr>
          <a:xfrm>
            <a:off x="8065008" y="233172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11827"/>
                </a:solidFill>
              </a:rPr>
              <a:t>Gerido</a:t>
            </a:r>
            <a:endParaRPr lang="en-US" sz="1300" dirty="0"/>
          </a:p>
        </p:txBody>
      </p:sp>
      <p:sp>
        <p:nvSpPr>
          <p:cNvPr id="18" name="card-65"/>
          <p:cNvSpPr/>
          <p:nvPr/>
        </p:nvSpPr>
        <p:spPr>
          <a:xfrm>
            <a:off x="9829800" y="1508760"/>
            <a:ext cx="1737360" cy="1417320"/>
          </a:xfrm>
          <a:prstGeom prst="roundRect">
            <a:avLst>
              <a:gd name="adj" fmla="val 7742"/>
            </a:avLst>
          </a:prstGeom>
          <a:solidFill>
            <a:srgbClr val="070A13"/>
          </a:solidFill>
          <a:ln w="12700">
            <a:solidFill>
              <a:srgbClr val="070A13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9829800" y="160020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CFA04A"/>
                </a:solidFill>
              </a:rPr>
              <a:t>5</a:t>
            </a:r>
            <a:endParaRPr lang="en-US" sz="3600" dirty="0"/>
          </a:p>
        </p:txBody>
      </p:sp>
      <p:sp>
        <p:nvSpPr>
          <p:cNvPr id="20" name="Text 18"/>
          <p:cNvSpPr txBox="1"/>
          <p:nvPr/>
        </p:nvSpPr>
        <p:spPr>
          <a:xfrm>
            <a:off x="9921240" y="233172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Otimizado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7955280" y="30175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8A6620"/>
                </a:solidFill>
              </a:rPr>
              <a:t>Nível-alvo por omissão: 4 (Gerido)</a:t>
            </a:r>
            <a:endParaRPr lang="en-US" sz="1200" dirty="0"/>
          </a:p>
        </p:txBody>
      </p:sp>
      <p:sp>
        <p:nvSpPr>
          <p:cNvPr id="22" name="card-66"/>
          <p:cNvSpPr/>
          <p:nvPr/>
        </p:nvSpPr>
        <p:spPr>
          <a:xfrm>
            <a:off x="548640" y="3657600"/>
            <a:ext cx="2606040" cy="2103120"/>
          </a:xfrm>
          <a:prstGeom prst="roundRect">
            <a:avLst>
              <a:gd name="adj" fmla="val 5217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77240" y="384048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70A13"/>
                </a:solidFill>
              </a:rPr>
              <a:t>Avaliação</a:t>
            </a:r>
            <a:endParaRPr lang="en-US" sz="1700" dirty="0"/>
          </a:p>
        </p:txBody>
      </p:sp>
      <p:sp>
        <p:nvSpPr>
          <p:cNvPr id="24" name="Text 22"/>
          <p:cNvSpPr txBox="1"/>
          <p:nvPr/>
        </p:nvSpPr>
        <p:spPr>
          <a:xfrm>
            <a:off x="777240" y="4343400"/>
            <a:ext cx="2194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474"/>
                </a:solidFill>
              </a:rPr>
              <a:t>O consultor cria-a com os referenciais (ex.: NIS2 e ISO/IEC 27001)</a:t>
            </a:r>
            <a:endParaRPr lang="en-US" sz="1300" dirty="0"/>
          </a:p>
        </p:txBody>
      </p:sp>
      <p:sp>
        <p:nvSpPr>
          <p:cNvPr id="25" name="seta-0"/>
          <p:cNvSpPr/>
          <p:nvPr/>
        </p:nvSpPr>
        <p:spPr>
          <a:xfrm>
            <a:off x="3182112" y="4526280"/>
            <a:ext cx="128016" cy="320040"/>
          </a:xfrm>
          <a:prstGeom prst="chevron">
            <a:avLst/>
          </a:prstGeom>
          <a:solidFill>
            <a:srgbClr val="CFA04A"/>
          </a:solidFill>
          <a:ln w="12700">
            <a:solidFill>
              <a:srgbClr val="CFA04A"/>
            </a:solidFill>
            <a:prstDash val="solid"/>
          </a:ln>
        </p:spPr>
      </p:sp>
      <p:sp>
        <p:nvSpPr>
          <p:cNvPr id="26" name="card-67"/>
          <p:cNvSpPr/>
          <p:nvPr/>
        </p:nvSpPr>
        <p:spPr>
          <a:xfrm>
            <a:off x="3337560" y="3657600"/>
            <a:ext cx="2606040" cy="2103120"/>
          </a:xfrm>
          <a:prstGeom prst="roundRect">
            <a:avLst>
              <a:gd name="adj" fmla="val 5217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3566160" y="384048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70A13"/>
                </a:solidFill>
              </a:rPr>
              <a:t>Respostas</a:t>
            </a:r>
            <a:endParaRPr lang="en-US" sz="1700" dirty="0"/>
          </a:p>
        </p:txBody>
      </p:sp>
      <p:sp>
        <p:nvSpPr>
          <p:cNvPr id="28" name="Text 26"/>
          <p:cNvSpPr txBox="1"/>
          <p:nvPr/>
        </p:nvSpPr>
        <p:spPr>
          <a:xfrm>
            <a:off x="3566160" y="4343400"/>
            <a:ext cx="2194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474"/>
                </a:solidFill>
              </a:rPr>
              <a:t>A equipa responde e liga evidências a cada pergunta</a:t>
            </a:r>
            <a:endParaRPr lang="en-US" sz="1300" dirty="0"/>
          </a:p>
        </p:txBody>
      </p:sp>
      <p:sp>
        <p:nvSpPr>
          <p:cNvPr id="29" name="seta-1"/>
          <p:cNvSpPr/>
          <p:nvPr/>
        </p:nvSpPr>
        <p:spPr>
          <a:xfrm>
            <a:off x="5971032" y="4526280"/>
            <a:ext cx="128016" cy="320040"/>
          </a:xfrm>
          <a:prstGeom prst="chevron">
            <a:avLst/>
          </a:prstGeom>
          <a:solidFill>
            <a:srgbClr val="CFA04A"/>
          </a:solidFill>
          <a:ln w="12700">
            <a:solidFill>
              <a:srgbClr val="CFA04A"/>
            </a:solidFill>
            <a:prstDash val="solid"/>
          </a:ln>
        </p:spPr>
      </p:sp>
      <p:sp>
        <p:nvSpPr>
          <p:cNvPr id="30" name="card-68"/>
          <p:cNvSpPr/>
          <p:nvPr/>
        </p:nvSpPr>
        <p:spPr>
          <a:xfrm>
            <a:off x="6126480" y="3657600"/>
            <a:ext cx="2606040" cy="2103120"/>
          </a:xfrm>
          <a:prstGeom prst="roundRect">
            <a:avLst>
              <a:gd name="adj" fmla="val 5217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355080" y="384048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70A13"/>
                </a:solidFill>
              </a:rPr>
              <a:t>Pontuação</a:t>
            </a:r>
            <a:endParaRPr lang="en-US" sz="1700" dirty="0"/>
          </a:p>
        </p:txBody>
      </p:sp>
      <p:sp>
        <p:nvSpPr>
          <p:cNvPr id="32" name="Text 30"/>
          <p:cNvSpPr txBox="1"/>
          <p:nvPr/>
        </p:nvSpPr>
        <p:spPr>
          <a:xfrm>
            <a:off x="6355080" y="4343400"/>
            <a:ext cx="2194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474"/>
                </a:solidFill>
              </a:rPr>
              <a:t>Por domínio, por referencial e global</a:t>
            </a:r>
            <a:endParaRPr lang="en-US" sz="1300" dirty="0"/>
          </a:p>
        </p:txBody>
      </p:sp>
      <p:sp>
        <p:nvSpPr>
          <p:cNvPr id="33" name="seta-2"/>
          <p:cNvSpPr/>
          <p:nvPr/>
        </p:nvSpPr>
        <p:spPr>
          <a:xfrm>
            <a:off x="8759952" y="4526280"/>
            <a:ext cx="128016" cy="320040"/>
          </a:xfrm>
          <a:prstGeom prst="chevron">
            <a:avLst/>
          </a:prstGeom>
          <a:solidFill>
            <a:srgbClr val="CFA04A"/>
          </a:solidFill>
          <a:ln w="12700">
            <a:solidFill>
              <a:srgbClr val="CFA04A"/>
            </a:solidFill>
            <a:prstDash val="solid"/>
          </a:ln>
        </p:spPr>
      </p:sp>
      <p:sp>
        <p:nvSpPr>
          <p:cNvPr id="34" name="card-69"/>
          <p:cNvSpPr/>
          <p:nvPr/>
        </p:nvSpPr>
        <p:spPr>
          <a:xfrm>
            <a:off x="8915400" y="3657600"/>
            <a:ext cx="2606040" cy="2103120"/>
          </a:xfrm>
          <a:prstGeom prst="roundRect">
            <a:avLst>
              <a:gd name="adj" fmla="val 5217"/>
            </a:avLst>
          </a:prstGeom>
          <a:solidFill>
            <a:srgbClr val="E6F5F3"/>
          </a:solidFill>
          <a:ln w="12700">
            <a:solidFill>
              <a:srgbClr val="E6F5F3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9144000" y="384048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7766C"/>
                </a:solidFill>
              </a:rPr>
              <a:t>Plano de ação</a:t>
            </a:r>
            <a:endParaRPr lang="en-US" sz="1700" dirty="0"/>
          </a:p>
        </p:txBody>
      </p:sp>
      <p:sp>
        <p:nvSpPr>
          <p:cNvPr id="36" name="Text 34"/>
          <p:cNvSpPr txBox="1"/>
          <p:nvPr/>
        </p:nvSpPr>
        <p:spPr>
          <a:xfrm>
            <a:off x="9144000" y="4343400"/>
            <a:ext cx="2194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474"/>
                </a:solidFill>
              </a:rPr>
              <a:t>Recomendações com prioridade, esforço e prazo, que viram tarefas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0936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47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O assistente de IA prepara rascunhos, não decide</a:t>
            </a:r>
            <a:endParaRPr lang="en-US" sz="3200" dirty="0"/>
          </a:p>
        </p:txBody>
      </p:sp>
      <p:sp>
        <p:nvSpPr>
          <p:cNvPr id="3" name="icon-bg-70"/>
          <p:cNvSpPr/>
          <p:nvPr/>
        </p:nvSpPr>
        <p:spPr>
          <a:xfrm>
            <a:off x="548640" y="1417320"/>
            <a:ext cx="731520" cy="73152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4" name="icon-7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9574" y="1578254"/>
            <a:ext cx="409651" cy="409651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463040" y="1508760"/>
            <a:ext cx="4572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11827"/>
                </a:solidFill>
              </a:rPr>
              <a:t>Ativo só onde há documentos para construir ou analisar</a:t>
            </a:r>
            <a:endParaRPr lang="en-US" sz="17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2377440"/>
            <a:ext cx="54864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11827"/>
                </a:solidFill>
              </a:rPr>
              <a:t>Políticas, procedimentos e planos de evidências por medida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11827"/>
                </a:solidFill>
              </a:rPr>
              <a:t>Análise de evidências face ao critério oficial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11827"/>
                </a:solidFill>
              </a:rPr>
              <a:t>Classificação de documentos carregados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11827"/>
                </a:solidFill>
              </a:rPr>
              <a:t>Notificações de incidentes e relatório anual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11827"/>
                </a:solidFill>
              </a:rPr>
              <a:t>Questionários a fornecedores e leitura de respostas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11827"/>
                </a:solidFill>
              </a:rPr>
              <a:t>Recomendações para o plano de ação</a:t>
            </a:r>
            <a:endParaRPr lang="en-US" sz="1500" dirty="0"/>
          </a:p>
        </p:txBody>
      </p:sp>
      <p:sp>
        <p:nvSpPr>
          <p:cNvPr id="7" name="card-71"/>
          <p:cNvSpPr/>
          <p:nvPr/>
        </p:nvSpPr>
        <p:spPr>
          <a:xfrm>
            <a:off x="6583680" y="1417320"/>
            <a:ext cx="5029200" cy="4526280"/>
          </a:xfrm>
          <a:prstGeom prst="roundRect">
            <a:avLst>
              <a:gd name="adj" fmla="val 2424"/>
            </a:avLst>
          </a:prstGeom>
          <a:solidFill>
            <a:srgbClr val="070A13"/>
          </a:solidFill>
          <a:ln w="12700">
            <a:solidFill>
              <a:srgbClr val="070A13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903720" y="169164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FA04A"/>
                </a:solidFill>
              </a:rPr>
              <a:t>REGRAS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6903720" y="2148840"/>
            <a:ext cx="443484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E6E9EF"/>
                </a:solidFill>
              </a:rPr>
              <a:t>Usa só os textos oficiais da Biblioteca Legal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E6E9EF"/>
                </a:solidFill>
              </a:rPr>
              <a:t>O resultado é sempre um rascunho a aprovar por uma pessoa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E6E9EF"/>
                </a:solidFill>
              </a:rPr>
              <a:t>Não recebe contactos, inventário de ativos nem evidências restritas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E6E9EF"/>
                </a:solidFill>
              </a:rPr>
              <a:t>Cada pedido fica na auditoria e conta para a quota (máximo de 30 por minuto)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E6E9EF"/>
                </a:solidFill>
              </a:rPr>
              <a:t>Motor escolhido pelo administrador: Claude ou Base44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54864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474"/>
                </a:solidFill>
              </a:rPr>
              <a:t>Incluído na licença Enterprise.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0936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47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731520" y="23774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chemeClr val="accent1"/>
                </a:solidFill>
              </a:rPr>
              <a:t>PARTE 3</a:t>
            </a:r>
            <a:endParaRPr lang="en-US" sz="14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731520" y="278892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Guia por referencial</a:t>
            </a:r>
            <a:endParaRPr lang="en-US" sz="4000" dirty="0"/>
          </a:p>
        </p:txBody>
      </p:sp>
      <p:sp>
        <p:nvSpPr>
          <p:cNvPr id="4" name="Text 0"/>
          <p:cNvSpPr/>
          <p:nvPr>
            <p:ph idx="103" type="body" hasCustomPrompt="1"/>
          </p:nvPr>
        </p:nvSpPr>
        <p:spPr>
          <a:xfrm>
            <a:off x="731520" y="393192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9CFDA"/>
                </a:solidFill>
              </a:rPr>
              <a:t>RJC e NIS2, ISO/IEC 27001, ISO/IEC 42001 e os restantes referenciais (com um guia de implementação para cada um dos três primeiros)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31520" y="626364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892A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RJC e NIS2: os prazos que não podem falhar</a:t>
            </a:r>
            <a:endParaRPr lang="en-US" sz="3200" dirty="0"/>
          </a:p>
        </p:txBody>
      </p:sp>
      <p:sp>
        <p:nvSpPr>
          <p:cNvPr id="3" name="card-72"/>
          <p:cNvSpPr/>
          <p:nvPr/>
        </p:nvSpPr>
        <p:spPr>
          <a:xfrm>
            <a:off x="548640" y="1417320"/>
            <a:ext cx="2606040" cy="2514600"/>
          </a:xfrm>
          <a:prstGeom prst="roundRect">
            <a:avLst>
              <a:gd name="adj" fmla="val 4364"/>
            </a:avLst>
          </a:prstGeom>
          <a:solidFill>
            <a:srgbClr val="070A13"/>
          </a:solidFill>
          <a:ln w="12700">
            <a:solidFill>
              <a:srgbClr val="070A1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55448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CFA04A"/>
                </a:solidFill>
              </a:rPr>
              <a:t>24 h</a:t>
            </a:r>
            <a:endParaRPr lang="en-US" sz="54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51460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Notificação inicial de incidente significativo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347472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9CFDA"/>
                </a:solidFill>
              </a:rPr>
              <a:t>RJC, arts. 41.º e 42.º</a:t>
            </a:r>
            <a:endParaRPr lang="en-US" sz="1100" dirty="0"/>
          </a:p>
        </p:txBody>
      </p:sp>
      <p:sp>
        <p:nvSpPr>
          <p:cNvPr id="7" name="card-73"/>
          <p:cNvSpPr/>
          <p:nvPr/>
        </p:nvSpPr>
        <p:spPr>
          <a:xfrm>
            <a:off x="3337560" y="1417320"/>
            <a:ext cx="2606040" cy="2514600"/>
          </a:xfrm>
          <a:prstGeom prst="roundRect">
            <a:avLst>
              <a:gd name="adj" fmla="val 436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566160" y="155448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070A13"/>
                </a:solidFill>
              </a:rPr>
              <a:t>72 h</a:t>
            </a:r>
            <a:endParaRPr lang="en-US" sz="5400" dirty="0"/>
          </a:p>
        </p:txBody>
      </p:sp>
      <p:sp>
        <p:nvSpPr>
          <p:cNvPr id="9" name="Text 7"/>
          <p:cNvSpPr txBox="1"/>
          <p:nvPr/>
        </p:nvSpPr>
        <p:spPr>
          <a:xfrm>
            <a:off x="3566160" y="251460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11827"/>
                </a:solidFill>
              </a:rPr>
              <a:t>Atualização da notificação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566160" y="347472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474"/>
                </a:solidFill>
              </a:rPr>
              <a:t>RJC, art. 42.º</a:t>
            </a:r>
            <a:endParaRPr lang="en-US" sz="1100" dirty="0"/>
          </a:p>
        </p:txBody>
      </p:sp>
      <p:sp>
        <p:nvSpPr>
          <p:cNvPr id="11" name="card-74"/>
          <p:cNvSpPr/>
          <p:nvPr/>
        </p:nvSpPr>
        <p:spPr>
          <a:xfrm>
            <a:off x="6126480" y="1417320"/>
            <a:ext cx="2606040" cy="2514600"/>
          </a:xfrm>
          <a:prstGeom prst="roundRect">
            <a:avLst>
              <a:gd name="adj" fmla="val 436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355080" y="155448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070A13"/>
                </a:solidFill>
              </a:rPr>
              <a:t>30</a:t>
            </a:r>
            <a:endParaRPr lang="en-US" sz="5400" dirty="0"/>
          </a:p>
        </p:txBody>
      </p:sp>
      <p:sp>
        <p:nvSpPr>
          <p:cNvPr id="13" name="Text 11"/>
          <p:cNvSpPr txBox="1"/>
          <p:nvPr/>
        </p:nvSpPr>
        <p:spPr>
          <a:xfrm>
            <a:off x="6355080" y="251460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11827"/>
                </a:solidFill>
              </a:rPr>
              <a:t>dias úteis para o relatório final do incidente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355080" y="347472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474"/>
                </a:solidFill>
              </a:rPr>
              <a:t>RJC, art. 44.º</a:t>
            </a:r>
            <a:endParaRPr lang="en-US" sz="1100" dirty="0"/>
          </a:p>
        </p:txBody>
      </p:sp>
      <p:sp>
        <p:nvSpPr>
          <p:cNvPr id="15" name="card-75"/>
          <p:cNvSpPr/>
          <p:nvPr/>
        </p:nvSpPr>
        <p:spPr>
          <a:xfrm>
            <a:off x="8915400" y="1417320"/>
            <a:ext cx="2606040" cy="2514600"/>
          </a:xfrm>
          <a:prstGeom prst="roundRect">
            <a:avLst>
              <a:gd name="adj" fmla="val 436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44000" y="155448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070A13"/>
                </a:solidFill>
              </a:rPr>
              <a:t>20</a:t>
            </a:r>
            <a:endParaRPr lang="en-US" sz="5400" dirty="0"/>
          </a:p>
        </p:txBody>
      </p:sp>
      <p:sp>
        <p:nvSpPr>
          <p:cNvPr id="17" name="Text 15"/>
          <p:cNvSpPr txBox="1"/>
          <p:nvPr/>
        </p:nvSpPr>
        <p:spPr>
          <a:xfrm>
            <a:off x="9144000" y="251460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11827"/>
                </a:solidFill>
              </a:rPr>
              <a:t>dias úteis para nomear o responsável e o ponto de contacto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9144000" y="347472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474"/>
                </a:solidFill>
              </a:rPr>
              <a:t>RJC, arts. 31.º e 32.º</a:t>
            </a:r>
            <a:endParaRPr lang="en-US" sz="11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160520"/>
          <a:ext cx="11064240" cy="914400"/>
        </p:xfrm>
        <a:graphic>
          <a:graphicData uri="http://schemas.openxmlformats.org/drawingml/2006/table">
            <a:tbl>
              <a:tblPr/>
              <a:tblGrid>
                <a:gridCol w="3931920"/>
                <a:gridCol w="71323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Obrigação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A1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Prazo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A13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Autoidentificação no CNCS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 dias após iniciar atividade; 60 dias após a plataforma do CNCS, se já em atividade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Lista de ativos acessíveis pela Internet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Até 31 de janeiro do ano seguinte à qualificação ou em 6 meses; depois, anual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Relatório anual (essenciais)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Último dia útil de janeiro; o primeiro em janeiro de 2029, relativo a 2028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0" name="Text 17"/>
          <p:cNvSpPr txBox="1"/>
          <p:nvPr/>
        </p:nvSpPr>
        <p:spPr>
          <a:xfrm>
            <a:off x="548640" y="5897880"/>
            <a:ext cx="9692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8A6620"/>
                </a:solidFill>
              </a:rPr>
              <a:t>Em vigor desde 3 de abril de 2026 (DL 125/2025). Arts. 27.º, n.os 1 e 2, 28.º a 30.º e 33.º do RJC: efeitos a 22 de junho de 2028.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0936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47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ISO/IEC 27001: um guia com Declaração de Aplicabilidade</a:t>
            </a:r>
            <a:endParaRPr lang="en-US" sz="3200" dirty="0"/>
          </a:p>
        </p:txBody>
      </p:sp>
      <p:sp>
        <p:nvSpPr>
          <p:cNvPr id="3" name="card-76"/>
          <p:cNvSpPr/>
          <p:nvPr/>
        </p:nvSpPr>
        <p:spPr>
          <a:xfrm>
            <a:off x="548640" y="1325880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F7F2E7"/>
          </a:solidFill>
          <a:ln w="12700">
            <a:solidFill>
              <a:srgbClr val="F7F2E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41732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A6620"/>
                </a:solidFill>
              </a:rPr>
              <a:t>Guia de preparação: </a:t>
            </a:r>
            <a:pPr indent="0" marL="0">
              <a:buNone/>
            </a:pPr>
            <a:r>
              <a:rPr lang="en-US" sz="1400" dirty="0">
                <a:solidFill>
                  <a:srgbClr val="111827"/>
                </a:solidFill>
              </a:rPr>
              <a:t>textos da AnkoraOne, estrutura conferida com o texto oficial (outubro de 2026); a norma não está reproduzida. Para certificação: texto oficial e entidade acreditada.</a:t>
            </a:r>
            <a:endParaRPr lang="en-US" sz="1400" dirty="0"/>
          </a:p>
        </p:txBody>
      </p:sp>
      <p:sp>
        <p:nvSpPr>
          <p:cNvPr id="5" name="card-77"/>
          <p:cNvSpPr/>
          <p:nvPr/>
        </p:nvSpPr>
        <p:spPr>
          <a:xfrm>
            <a:off x="548640" y="2286000"/>
            <a:ext cx="4206240" cy="1051560"/>
          </a:xfrm>
          <a:prstGeom prst="roundRect">
            <a:avLst>
              <a:gd name="adj" fmla="val 10435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2395728"/>
            <a:ext cx="1188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70A13"/>
                </a:solidFill>
              </a:rPr>
              <a:t>25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1965960" y="2423160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827"/>
                </a:solidFill>
              </a:rPr>
              <a:t>requisitos do sistema de gestão (cláusulas 4 a 10)</a:t>
            </a:r>
            <a:endParaRPr lang="en-US" sz="1400" dirty="0"/>
          </a:p>
        </p:txBody>
      </p:sp>
      <p:sp>
        <p:nvSpPr>
          <p:cNvPr id="8" name="card-78"/>
          <p:cNvSpPr/>
          <p:nvPr/>
        </p:nvSpPr>
        <p:spPr>
          <a:xfrm>
            <a:off x="548640" y="3474720"/>
            <a:ext cx="4206240" cy="1051560"/>
          </a:xfrm>
          <a:prstGeom prst="roundRect">
            <a:avLst>
              <a:gd name="adj" fmla="val 10435"/>
            </a:avLst>
          </a:prstGeom>
          <a:solidFill>
            <a:srgbClr val="070A13"/>
          </a:solidFill>
          <a:ln w="12700">
            <a:solidFill>
              <a:srgbClr val="070A1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77240" y="3584448"/>
            <a:ext cx="1188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CFA04A"/>
                </a:solidFill>
              </a:rPr>
              <a:t>93</a:t>
            </a:r>
            <a:endParaRPr lang="en-US" sz="4400" dirty="0"/>
          </a:p>
        </p:txBody>
      </p:sp>
      <p:sp>
        <p:nvSpPr>
          <p:cNvPr id="10" name="Text 8"/>
          <p:cNvSpPr txBox="1"/>
          <p:nvPr/>
        </p:nvSpPr>
        <p:spPr>
          <a:xfrm>
            <a:off x="1965960" y="3611880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controlos do Anexo A, com aplicabilidade e justificação</a:t>
            </a:r>
            <a:endParaRPr lang="en-US" sz="1400" dirty="0"/>
          </a:p>
        </p:txBody>
      </p:sp>
      <p:sp>
        <p:nvSpPr>
          <p:cNvPr id="11" name="card-79"/>
          <p:cNvSpPr/>
          <p:nvPr/>
        </p:nvSpPr>
        <p:spPr>
          <a:xfrm>
            <a:off x="548640" y="4663440"/>
            <a:ext cx="4206240" cy="1051560"/>
          </a:xfrm>
          <a:prstGeom prst="roundRect">
            <a:avLst>
              <a:gd name="adj" fmla="val 10435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77240" y="4773168"/>
            <a:ext cx="1188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70A13"/>
                </a:solidFill>
              </a:rPr>
              <a:t>92</a:t>
            </a:r>
            <a:endParaRPr lang="en-US" sz="4400" dirty="0"/>
          </a:p>
        </p:txBody>
      </p:sp>
      <p:sp>
        <p:nvSpPr>
          <p:cNvPr id="13" name="Text 11"/>
          <p:cNvSpPr txBox="1"/>
          <p:nvPr/>
        </p:nvSpPr>
        <p:spPr>
          <a:xfrm>
            <a:off x="1965960" y="4800600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827"/>
                </a:solidFill>
              </a:rPr>
              <a:t>controlos ligados ao QNRCS pelo Reg. 756/2026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5120640" y="2286000"/>
            <a:ext cx="6492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7766C"/>
                </a:solidFill>
              </a:rPr>
              <a:t>Como trabalhar (Biblioteca Legal › ISO/IEC 27001)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5120640" y="2743200"/>
            <a:ext cx="6492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111827"/>
                </a:solidFill>
              </a:rPr>
              <a:t>Cláusulas 4 a 6: âmbito, política, metodologia de riscos e objetivos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111827"/>
                </a:solidFill>
              </a:rPr>
              <a:t>Avaliação e tratamento de riscos em Gestão de Risco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111827"/>
                </a:solidFill>
              </a:rPr>
              <a:t>Anexo A: aplicável ou não, justificação e método de implementação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111827"/>
                </a:solidFill>
              </a:rPr>
              <a:t>Exportar a Declaração de Aplicabilidade e aprová-la em Documentos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111827"/>
                </a:solidFill>
              </a:rPr>
              <a:t>Evidências por controlo; as do RJC ligadas contam também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111827"/>
                </a:solidFill>
              </a:rPr>
              <a:t>Análise de lacunas: sistema de gestão e controlos em separado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111827"/>
                </a:solidFill>
              </a:rPr>
              <a:t>Auditoria interna (9.2) e revisão pela gestão (9.3) antes da certificação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0936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47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ISO/IEC 42001: gerir a inteligência artificial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3444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474"/>
                </a:solidFill>
              </a:rPr>
              <a:t>Para quem desenvolve, fornece ou usa sistemas de IA. Guia em Biblioteca Legal › ISO/IEC 42001, com a mesma abordagem da 27001.</a:t>
            </a:r>
            <a:endParaRPr lang="en-US" sz="1500" dirty="0"/>
          </a:p>
        </p:txBody>
      </p:sp>
      <p:sp>
        <p:nvSpPr>
          <p:cNvPr id="4" name="card-80"/>
          <p:cNvSpPr/>
          <p:nvPr/>
        </p:nvSpPr>
        <p:spPr>
          <a:xfrm>
            <a:off x="548640" y="1828800"/>
            <a:ext cx="4206240" cy="1051560"/>
          </a:xfrm>
          <a:prstGeom prst="roundRect">
            <a:avLst>
              <a:gd name="adj" fmla="val 10435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938528"/>
            <a:ext cx="1188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70A13"/>
                </a:solidFill>
              </a:rPr>
              <a:t>27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1965960" y="1965960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827"/>
                </a:solidFill>
              </a:rPr>
              <a:t>requisitos (cláusulas 4 a 10), com a avaliação de impacto em 6.1.4 e 8.4</a:t>
            </a:r>
            <a:endParaRPr lang="en-US" sz="1400" dirty="0"/>
          </a:p>
        </p:txBody>
      </p:sp>
      <p:sp>
        <p:nvSpPr>
          <p:cNvPr id="7" name="card-81"/>
          <p:cNvSpPr/>
          <p:nvPr/>
        </p:nvSpPr>
        <p:spPr>
          <a:xfrm>
            <a:off x="548640" y="3017520"/>
            <a:ext cx="4206240" cy="1051560"/>
          </a:xfrm>
          <a:prstGeom prst="roundRect">
            <a:avLst>
              <a:gd name="adj" fmla="val 10435"/>
            </a:avLst>
          </a:prstGeom>
          <a:solidFill>
            <a:srgbClr val="070A13"/>
          </a:solidFill>
          <a:ln w="12700">
            <a:solidFill>
              <a:srgbClr val="070A1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3127248"/>
            <a:ext cx="1188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CFA04A"/>
                </a:solidFill>
              </a:rPr>
              <a:t>38</a:t>
            </a:r>
            <a:endParaRPr lang="en-US" sz="4400" dirty="0"/>
          </a:p>
        </p:txBody>
      </p:sp>
      <p:sp>
        <p:nvSpPr>
          <p:cNvPr id="9" name="Text 7"/>
          <p:cNvSpPr txBox="1"/>
          <p:nvPr/>
        </p:nvSpPr>
        <p:spPr>
          <a:xfrm>
            <a:off x="1965960" y="3154680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controlos do Anexo A em 9 domínios</a:t>
            </a:r>
            <a:endParaRPr lang="en-US" sz="1400" dirty="0"/>
          </a:p>
        </p:txBody>
      </p:sp>
      <p:sp>
        <p:nvSpPr>
          <p:cNvPr id="10" name="card-82"/>
          <p:cNvSpPr/>
          <p:nvPr/>
        </p:nvSpPr>
        <p:spPr>
          <a:xfrm>
            <a:off x="548640" y="4206240"/>
            <a:ext cx="4206240" cy="1051560"/>
          </a:xfrm>
          <a:prstGeom prst="roundRect">
            <a:avLst>
              <a:gd name="adj" fmla="val 10435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7240" y="4315968"/>
            <a:ext cx="1188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70A13"/>
                </a:solidFill>
              </a:rPr>
              <a:t>33</a:t>
            </a:r>
            <a:endParaRPr lang="en-US" sz="4400" dirty="0"/>
          </a:p>
        </p:txBody>
      </p:sp>
      <p:sp>
        <p:nvSpPr>
          <p:cNvPr id="12" name="Text 10"/>
          <p:cNvSpPr txBox="1"/>
          <p:nvPr/>
        </p:nvSpPr>
        <p:spPr>
          <a:xfrm>
            <a:off x="1965960" y="4343400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827"/>
                </a:solidFill>
              </a:rPr>
              <a:t>apoiam-se em requisitos da 27001; 5 são próprios da IA</a:t>
            </a:r>
            <a:endParaRPr lang="en-US" sz="1400" dirty="0"/>
          </a:p>
        </p:txBody>
      </p:sp>
      <p:sp>
        <p:nvSpPr>
          <p:cNvPr id="13" name="card-83"/>
          <p:cNvSpPr/>
          <p:nvPr/>
        </p:nvSpPr>
        <p:spPr>
          <a:xfrm>
            <a:off x="548640" y="5440680"/>
            <a:ext cx="4206240" cy="548640"/>
          </a:xfrm>
          <a:prstGeom prst="roundRect">
            <a:avLst>
              <a:gd name="adj" fmla="val 20000"/>
            </a:avLst>
          </a:prstGeom>
          <a:solidFill>
            <a:srgbClr val="F7F2E7"/>
          </a:solidFill>
          <a:ln w="12700">
            <a:solidFill>
              <a:srgbClr val="F7F2E7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31520" y="5440680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A6620"/>
                </a:solidFill>
              </a:rPr>
              <a:t>Não substitui o Regulamento (UE) 2024/1689.</a:t>
            </a:r>
            <a:endParaRPr lang="en-US" sz="1300" dirty="0"/>
          </a:p>
        </p:txBody>
      </p:sp>
      <p:sp>
        <p:nvSpPr>
          <p:cNvPr id="15" name="card-84"/>
          <p:cNvSpPr/>
          <p:nvPr/>
        </p:nvSpPr>
        <p:spPr>
          <a:xfrm>
            <a:off x="5120640" y="1828800"/>
            <a:ext cx="6492240" cy="4160520"/>
          </a:xfrm>
          <a:prstGeom prst="roundRect">
            <a:avLst>
              <a:gd name="adj" fmla="val 2637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6" name="icon-bg-85"/>
          <p:cNvSpPr/>
          <p:nvPr/>
        </p:nvSpPr>
        <p:spPr>
          <a:xfrm>
            <a:off x="5394960" y="2057400"/>
            <a:ext cx="594360" cy="59436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17" name="icon-85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25719" y="2188159"/>
            <a:ext cx="332842" cy="332842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6172200" y="2148840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70A13"/>
                </a:solidFill>
              </a:rPr>
              <a:t>Um só sistema de gestão com a 27001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5394960" y="2834640"/>
            <a:ext cx="59436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827"/>
                </a:solidFill>
              </a:rPr>
              <a:t>Mesma análise de contexto, controlo documental, auditoria interna e revisão pela gestão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827"/>
                </a:solidFill>
              </a:rPr>
              <a:t>Cada controlo mostra os requisitos da 27001 de base e conta as evidências que já lá estão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827"/>
                </a:solidFill>
              </a:rPr>
              <a:t>Avaliação de impacto em pessoas e na sociedade: nova, sem equivalente na 27001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827"/>
                </a:solidFill>
              </a:rPr>
              <a:t>Declaração de Aplicabilidade separada para cada norma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827"/>
                </a:solidFill>
              </a:rPr>
              <a:t>Objetivos e fontes de risco do Anexo C como lista de apoio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0936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47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Outros referenciais disponíveis na plataforma</a:t>
            </a:r>
            <a:endParaRPr lang="en-US" sz="3200" dirty="0"/>
          </a:p>
        </p:txBody>
      </p:sp>
      <p:sp>
        <p:nvSpPr>
          <p:cNvPr id="3" name="card-86"/>
          <p:cNvSpPr/>
          <p:nvPr/>
        </p:nvSpPr>
        <p:spPr>
          <a:xfrm>
            <a:off x="548640" y="1417320"/>
            <a:ext cx="3520440" cy="2011680"/>
          </a:xfrm>
          <a:prstGeom prst="roundRect">
            <a:avLst>
              <a:gd name="adj" fmla="val 5455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4592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70A13"/>
                </a:solidFill>
              </a:rPr>
              <a:t>QNRCS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075688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7766C"/>
                </a:solidFill>
              </a:rPr>
              <a:t>Reg. 756/2026, Anexo I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46888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474"/>
                </a:solidFill>
              </a:rPr>
              <a:t>107 controlos em seis objetivos, com medida e verificação por nível</a:t>
            </a:r>
            <a:endParaRPr lang="en-US" sz="1300" dirty="0"/>
          </a:p>
        </p:txBody>
      </p:sp>
      <p:sp>
        <p:nvSpPr>
          <p:cNvPr id="7" name="card-87"/>
          <p:cNvSpPr/>
          <p:nvPr/>
        </p:nvSpPr>
        <p:spPr>
          <a:xfrm>
            <a:off x="4297680" y="1417320"/>
            <a:ext cx="3520440" cy="2011680"/>
          </a:xfrm>
          <a:prstGeom prst="roundRect">
            <a:avLst>
              <a:gd name="adj" fmla="val 5455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72000" y="164592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70A13"/>
                </a:solidFill>
              </a:rPr>
              <a:t>Requisitos técnicos NIS2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4572000" y="2075688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7766C"/>
                </a:solidFill>
              </a:rPr>
              <a:t>Reg. de Execução (UE) 2024/2690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4572000" y="246888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474"/>
                </a:solidFill>
              </a:rPr>
              <a:t>161 requisitos para serviços digitais</a:t>
            </a:r>
            <a:endParaRPr lang="en-US" sz="1300" dirty="0"/>
          </a:p>
        </p:txBody>
      </p:sp>
      <p:sp>
        <p:nvSpPr>
          <p:cNvPr id="11" name="card-88"/>
          <p:cNvSpPr/>
          <p:nvPr/>
        </p:nvSpPr>
        <p:spPr>
          <a:xfrm>
            <a:off x="8046720" y="1417320"/>
            <a:ext cx="3520440" cy="2011680"/>
          </a:xfrm>
          <a:prstGeom prst="roundRect">
            <a:avLst>
              <a:gd name="adj" fmla="val 5455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21040" y="164592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70A13"/>
                </a:solidFill>
              </a:rPr>
              <a:t>DORA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8321040" y="2075688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7766C"/>
                </a:solidFill>
              </a:rPr>
              <a:t>Reg. (UE) 2022/2554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8321040" y="246888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474"/>
                </a:solidFill>
              </a:rPr>
              <a:t>111 obrigações e prazos de incidentes para o setor financeiro</a:t>
            </a:r>
            <a:endParaRPr lang="en-US" sz="1300" dirty="0"/>
          </a:p>
        </p:txBody>
      </p:sp>
      <p:sp>
        <p:nvSpPr>
          <p:cNvPr id="15" name="card-89"/>
          <p:cNvSpPr/>
          <p:nvPr/>
        </p:nvSpPr>
        <p:spPr>
          <a:xfrm>
            <a:off x="548640" y="3657600"/>
            <a:ext cx="3520440" cy="2011680"/>
          </a:xfrm>
          <a:prstGeom prst="roundRect">
            <a:avLst>
              <a:gd name="adj" fmla="val 5455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22960" y="388620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70A13"/>
                </a:solidFill>
              </a:rPr>
              <a:t>TISAX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822960" y="4315968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7766C"/>
                </a:solidFill>
              </a:rPr>
              <a:t>VDA ISA 6.0.3 e 2027.1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822960" y="470916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474"/>
                </a:solidFill>
              </a:rPr>
              <a:t>80 e 78 controlos para a indústria automóvel</a:t>
            </a:r>
            <a:endParaRPr lang="en-US" sz="1300" dirty="0"/>
          </a:p>
        </p:txBody>
      </p:sp>
      <p:sp>
        <p:nvSpPr>
          <p:cNvPr id="19" name="card-90"/>
          <p:cNvSpPr/>
          <p:nvPr/>
        </p:nvSpPr>
        <p:spPr>
          <a:xfrm>
            <a:off x="4297680" y="3657600"/>
            <a:ext cx="3520440" cy="2011680"/>
          </a:xfrm>
          <a:prstGeom prst="roundRect">
            <a:avLst>
              <a:gd name="adj" fmla="val 5455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572000" y="388620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70A13"/>
                </a:solidFill>
              </a:rPr>
              <a:t>CIS Controls v8.1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4572000" y="4315968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7766C"/>
                </a:solidFill>
              </a:rPr>
              <a:t>CIS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4572000" y="470916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474"/>
                </a:solidFill>
              </a:rPr>
              <a:t>Identificadores; o texto entra com o ficheiro oficial da entidade</a:t>
            </a:r>
            <a:endParaRPr lang="en-US" sz="1300" dirty="0"/>
          </a:p>
        </p:txBody>
      </p:sp>
      <p:sp>
        <p:nvSpPr>
          <p:cNvPr id="23" name="card-91"/>
          <p:cNvSpPr/>
          <p:nvPr/>
        </p:nvSpPr>
        <p:spPr>
          <a:xfrm>
            <a:off x="8046720" y="3657600"/>
            <a:ext cx="3520440" cy="2011680"/>
          </a:xfrm>
          <a:prstGeom prst="roundRect">
            <a:avLst>
              <a:gd name="adj" fmla="val 5455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321040" y="388620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70A13"/>
                </a:solidFill>
              </a:rPr>
              <a:t>NIST CSF 2.0</a:t>
            </a:r>
            <a:endParaRPr lang="en-US" sz="1800" dirty="0"/>
          </a:p>
        </p:txBody>
      </p:sp>
      <p:sp>
        <p:nvSpPr>
          <p:cNvPr id="25" name="Text 23"/>
          <p:cNvSpPr txBox="1"/>
          <p:nvPr/>
        </p:nvSpPr>
        <p:spPr>
          <a:xfrm>
            <a:off x="8321040" y="4315968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7766C"/>
                </a:solidFill>
              </a:rPr>
              <a:t>NIST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8321040" y="470916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474"/>
                </a:solidFill>
              </a:rPr>
              <a:t>Correspondências a partir do QNRCS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548640" y="5943600"/>
            <a:ext cx="9692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474"/>
                </a:solidFill>
              </a:rPr>
              <a:t>Biblioteca Legal › Relações entre referenciais mostra as correspondências (1338 ligações) para reaproveitar evidências.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0936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47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Os primeiros 90 dias</a:t>
            </a:r>
            <a:endParaRPr lang="en-US" sz="3200" dirty="0"/>
          </a:p>
        </p:txBody>
      </p:sp>
      <p:sp>
        <p:nvSpPr>
          <p:cNvPr id="3" name="linha-90"/>
          <p:cNvSpPr/>
          <p:nvPr/>
        </p:nvSpPr>
        <p:spPr>
          <a:xfrm>
            <a:off x="822960" y="2057400"/>
            <a:ext cx="10515600" cy="0"/>
          </a:xfrm>
          <a:prstGeom prst="line">
            <a:avLst/>
          </a:prstGeom>
          <a:noFill/>
          <a:ln w="25400">
            <a:solidFill>
              <a:srgbClr val="DDE2EA"/>
            </a:solidFill>
            <a:prstDash val="solid"/>
          </a:ln>
        </p:spPr>
      </p:sp>
      <p:sp>
        <p:nvSpPr>
          <p:cNvPr id="4" name="fase-0"/>
          <p:cNvSpPr/>
          <p:nvPr/>
        </p:nvSpPr>
        <p:spPr>
          <a:xfrm>
            <a:off x="640080" y="1828800"/>
            <a:ext cx="457200" cy="457200"/>
          </a:xfrm>
          <a:prstGeom prst="ellipse">
            <a:avLst/>
          </a:prstGeom>
          <a:solidFill>
            <a:srgbClr val="070A13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2514600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70A13"/>
                </a:solidFill>
              </a:rPr>
              <a:t>Semana 1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971800"/>
            <a:ext cx="2514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4"/>
                </a:solidFill>
              </a:rPr>
              <a:t>Conta, enquadramento e equipa convidada</a:t>
            </a:r>
            <a:endParaRPr lang="en-US" sz="1400" dirty="0"/>
          </a:p>
        </p:txBody>
      </p:sp>
      <p:sp>
        <p:nvSpPr>
          <p:cNvPr id="7" name="fase-1"/>
          <p:cNvSpPr/>
          <p:nvPr/>
        </p:nvSpPr>
        <p:spPr>
          <a:xfrm>
            <a:off x="3429000" y="1828800"/>
            <a:ext cx="457200" cy="457200"/>
          </a:xfrm>
          <a:prstGeom prst="ellipse">
            <a:avLst/>
          </a:prstGeom>
          <a:solidFill>
            <a:srgbClr val="070A13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337560" y="2514600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70A13"/>
                </a:solidFill>
              </a:rPr>
              <a:t>Semanas 2 a 4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3337560" y="2971800"/>
            <a:ext cx="2514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4"/>
                </a:solidFill>
              </a:rPr>
              <a:t>Responsável e ponto de contacto; autoidentificação; primeira avaliação NIS2 e ISO</a:t>
            </a:r>
            <a:endParaRPr lang="en-US" sz="1400" dirty="0"/>
          </a:p>
        </p:txBody>
      </p:sp>
      <p:sp>
        <p:nvSpPr>
          <p:cNvPr id="10" name="fase-2"/>
          <p:cNvSpPr/>
          <p:nvPr/>
        </p:nvSpPr>
        <p:spPr>
          <a:xfrm>
            <a:off x="6217920" y="1828800"/>
            <a:ext cx="457200" cy="457200"/>
          </a:xfrm>
          <a:prstGeom prst="ellipse">
            <a:avLst/>
          </a:prstGeom>
          <a:solidFill>
            <a:srgbClr val="070A13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126480" y="2514600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70A13"/>
                </a:solidFill>
              </a:rPr>
              <a:t>Mês 2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6126480" y="2971800"/>
            <a:ext cx="2514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4"/>
                </a:solidFill>
              </a:rPr>
              <a:t>Políticas aprovadas; inventário de ativos e de sistemas de IA; documentos carregados em Por classificar</a:t>
            </a:r>
            <a:endParaRPr lang="en-US" sz="1400" dirty="0"/>
          </a:p>
        </p:txBody>
      </p:sp>
      <p:sp>
        <p:nvSpPr>
          <p:cNvPr id="13" name="fase-3"/>
          <p:cNvSpPr/>
          <p:nvPr/>
        </p:nvSpPr>
        <p:spPr>
          <a:xfrm>
            <a:off x="9006840" y="1828800"/>
            <a:ext cx="457200" cy="457200"/>
          </a:xfrm>
          <a:prstGeom prst="ellipse">
            <a:avLst/>
          </a:prstGeom>
          <a:solidFill>
            <a:srgbClr val="CFA04A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915400" y="2514600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70A13"/>
                </a:solidFill>
              </a:rPr>
              <a:t>Mês 3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8915400" y="2971800"/>
            <a:ext cx="2514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4"/>
                </a:solidFill>
              </a:rPr>
              <a:t>Medidas com evidências; Declarações de Aplicabilidade; incidentes testados; plano revisto</a:t>
            </a:r>
            <a:endParaRPr lang="en-US" sz="1400" dirty="0"/>
          </a:p>
        </p:txBody>
      </p:sp>
      <p:sp>
        <p:nvSpPr>
          <p:cNvPr id="16" name="card-92"/>
          <p:cNvSpPr/>
          <p:nvPr/>
        </p:nvSpPr>
        <p:spPr>
          <a:xfrm>
            <a:off x="548640" y="4663440"/>
            <a:ext cx="11064240" cy="1325880"/>
          </a:xfrm>
          <a:prstGeom prst="roundRect">
            <a:avLst>
              <a:gd name="adj" fmla="val 8276"/>
            </a:avLst>
          </a:prstGeom>
          <a:solidFill>
            <a:srgbClr val="E6F5F3"/>
          </a:solidFill>
          <a:ln w="12700">
            <a:solidFill>
              <a:srgbClr val="E6F5F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22960" y="48006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7766C"/>
                </a:solidFill>
              </a:rPr>
              <a:t>Depois do arranque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822960" y="521208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11827"/>
                </a:solidFill>
              </a:rPr>
              <a:t>Revisão trimestral da maturidade, análise anual dos riscos, lembretes de revisão de documentos e preparação do relatório anual.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0936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47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731520" y="24688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chemeClr val="accent1"/>
                </a:solidFill>
              </a:rPr>
              <a:t>PRÓXIMO PASSO</a:t>
            </a:r>
            <a:endParaRPr lang="en-US" sz="14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731520" y="288036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Marcar a reunião de criação da conta</a:t>
            </a:r>
            <a:endParaRPr lang="en-US" sz="4400" dirty="0"/>
          </a:p>
        </p:txBody>
      </p:sp>
      <p:sp>
        <p:nvSpPr>
          <p:cNvPr id="4" name="Text 0"/>
          <p:cNvSpPr/>
          <p:nvPr>
            <p:ph idx="103" type="body" hasCustomPrompt="1"/>
          </p:nvPr>
        </p:nvSpPr>
        <p:spPr>
          <a:xfrm>
            <a:off x="731520" y="4160520"/>
            <a:ext cx="8686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9CFDA"/>
                </a:solidFill>
              </a:rPr>
              <a:t>Traga a informação da secção 2 do manual de onboarding. Guias de implementação: NIS2, ISO/IEC 27001 e ISO/IEC 42001.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C9CFDA"/>
                </a:solidFill>
              </a:rPr>
              <a:t>app.ankoraone.com  ·  daniel.carvalho@ankoraone.com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nkoraOne">
  <a:themeElements>
    <a:clrScheme name="AnkoraOne">
      <a:dk1>
        <a:srgbClr val="070A13"/>
      </a:dk1>
      <a:lt1>
        <a:srgbClr val="FFFFFF"/>
      </a:lt1>
      <a:dk2>
        <a:srgbClr val="0C111D"/>
      </a:dk2>
      <a:lt2>
        <a:srgbClr val="F3F5F8"/>
      </a:lt2>
      <a:accent1>
        <a:srgbClr val="CFA04A"/>
      </a:accent1>
      <a:accent2>
        <a:srgbClr val="26A699"/>
      </a:accent2>
      <a:accent3>
        <a:srgbClr val="2B3550"/>
      </a:accent3>
      <a:accent4>
        <a:srgbClr val="E8B04B"/>
      </a:accent4>
      <a:accent5>
        <a:srgbClr val="5B6474"/>
      </a:accent5>
      <a:accent6>
        <a:srgbClr val="D9534F"/>
      </a:accent6>
      <a:hlink>
        <a:srgbClr val="26A699"/>
      </a:hlink>
      <a:folHlink>
        <a:srgbClr val="CFA04A"/>
      </a:folHlink>
    </a:clrScheme>
    <a:fontScheme name="AnkoraOne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AnkoraOne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AnkoraOne — Onboarding de novos clientes</dc:title>
  <dc:subject>PptxGenJS Presentation</dc:subject>
  <dc:creator>AnkoraOne</dc:creator>
  <cp:lastModifiedBy>AnkoraOne</cp:lastModifiedBy>
  <cp:revision>1</cp:revision>
  <dcterms:created xsi:type="dcterms:W3CDTF">2026-10-27T01:29:50Z</dcterms:created>
  <dcterms:modified xsi:type="dcterms:W3CDTF">2026-10-27T01:29:50Z</dcterms:modified>
</cp:coreProperties>
</file>