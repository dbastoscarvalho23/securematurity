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344d1515-85e6-022b-ab0c-0ce68a2ce623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Navegar e trabalhar" id="{919981b8-7b8f-12bd-03cd-795fb62e3488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Guia por referencial" id="{0119038f-8be0-8602-9201-fa603ceb1702}">
          <p14:sldIdLst>
            <p14:sldId id="268"/>
            <p14:sldId id="269"/>
            <p14:sldId id="270"/>
            <p14:sldId id="271"/>
          </p14:sldIdLst>
        </p14:section>
        <p14:section name="Fecho" id="{bde07117-bcb4-69e7-35e3-9ca7527e6dee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de arranque para novos clientes. Duração prevista: 30 a 40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70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2377440" cy="53949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468880"/>
            <a:ext cx="10058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4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731520" y="288036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4160520"/>
            <a:ext cx="8686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CF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AO">
    <p:bg>
      <p:bgPr>
        <a:solidFill>
          <a:srgbClr val="070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6172200"/>
            <a:ext cx="1463040" cy="32918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377440"/>
            <a:ext cx="10058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4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731520" y="278892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3931920"/>
            <a:ext cx="9144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CF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3152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92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6291072"/>
            <a:ext cx="1188720" cy="2743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3152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92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2468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ONBOARDING DE NOVOS CLIENTES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731520" y="28803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Começar a trabalhar na AnkoraOne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731520" y="41605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CFDA"/>
                </a:solidFill>
              </a:rPr>
              <a:t>Regime Jurídico da Cibersegurança (NIS2) e ISO/IEC 27001: criação da conta, navegação, uso diário e guia por referencial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A04A"/>
                </a:solidFill>
              </a:rPr>
              <a:t>app.ankoraone.com  ·  outubro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conformidade da sua organização num só sítio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4"/>
                </a:solidFill>
              </a:rPr>
              <a:t>Tudo o que a plataforma pede vem dos textos oficiais: DL 125/2025, Regulamento do CNCS n.º 756/2026 e Diretiva NIS2.</a:t>
            </a:r>
            <a:endParaRPr lang="en-US" sz="1600" dirty="0"/>
          </a:p>
        </p:txBody>
      </p:sp>
      <p:sp>
        <p:nvSpPr>
          <p:cNvPr id="4" name="card-1"/>
          <p:cNvSpPr/>
          <p:nvPr/>
        </p:nvSpPr>
        <p:spPr>
          <a:xfrm>
            <a:off x="548640" y="19202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icon-bg-2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icon-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233537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3042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Enquadramento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71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Qualificação e nível de conformidade, com a base legal de cada conclusão</a:t>
            </a:r>
            <a:endParaRPr lang="en-US" sz="1300" dirty="0"/>
          </a:p>
        </p:txBody>
      </p:sp>
      <p:sp>
        <p:nvSpPr>
          <p:cNvPr id="9" name="card-3"/>
          <p:cNvSpPr/>
          <p:nvPr/>
        </p:nvSpPr>
        <p:spPr>
          <a:xfrm>
            <a:off x="4297680" y="19202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" name="icon-bg-4"/>
          <p:cNvSpPr/>
          <p:nvPr/>
        </p:nvSpPr>
        <p:spPr>
          <a:xfrm>
            <a:off x="4572000" y="219456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1" name="icon-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818" y="233537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23042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Jornada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971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As tarefas que a lei pede, por ordem e com os prazos</a:t>
            </a:r>
            <a:endParaRPr lang="en-US" sz="1300" dirty="0"/>
          </a:p>
        </p:txBody>
      </p:sp>
      <p:sp>
        <p:nvSpPr>
          <p:cNvPr id="14" name="card-5"/>
          <p:cNvSpPr/>
          <p:nvPr/>
        </p:nvSpPr>
        <p:spPr>
          <a:xfrm>
            <a:off x="8046720" y="19202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5" name="icon-bg-6"/>
          <p:cNvSpPr/>
          <p:nvPr/>
        </p:nvSpPr>
        <p:spPr>
          <a:xfrm>
            <a:off x="8321040" y="219456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6" name="icon-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858" y="2335378"/>
            <a:ext cx="358445" cy="35844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98280" y="23042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Medidas mínimas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971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O que cumprir no seu nível e o que guardar como evidência</a:t>
            </a:r>
            <a:endParaRPr lang="en-US" sz="1300" dirty="0"/>
          </a:p>
        </p:txBody>
      </p:sp>
      <p:sp>
        <p:nvSpPr>
          <p:cNvPr id="19" name="card-7"/>
          <p:cNvSpPr/>
          <p:nvPr/>
        </p:nvSpPr>
        <p:spPr>
          <a:xfrm>
            <a:off x="548640" y="40233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0" name="icon-bg-8"/>
          <p:cNvSpPr/>
          <p:nvPr/>
        </p:nvSpPr>
        <p:spPr>
          <a:xfrm>
            <a:off x="822960" y="42976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1" name="icon-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778" y="4438498"/>
            <a:ext cx="358445" cy="35844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00200" y="4407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Evidências e documentos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5074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Ficheiros privados, versões, validade e aprovação assinada</a:t>
            </a:r>
            <a:endParaRPr lang="en-US" sz="1300" dirty="0"/>
          </a:p>
        </p:txBody>
      </p:sp>
      <p:sp>
        <p:nvSpPr>
          <p:cNvPr id="24" name="card-9"/>
          <p:cNvSpPr/>
          <p:nvPr/>
        </p:nvSpPr>
        <p:spPr>
          <a:xfrm>
            <a:off x="4297680" y="40233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5" name="icon-bg-10"/>
          <p:cNvSpPr/>
          <p:nvPr/>
        </p:nvSpPr>
        <p:spPr>
          <a:xfrm>
            <a:off x="4572000" y="42976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6" name="icon-1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2818" y="4438498"/>
            <a:ext cx="358445" cy="35844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49240" y="4407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Maturidade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5074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Avaliações por referencial e plano de ação com tarefas</a:t>
            </a:r>
            <a:endParaRPr lang="en-US" sz="1300" dirty="0"/>
          </a:p>
        </p:txBody>
      </p:sp>
      <p:sp>
        <p:nvSpPr>
          <p:cNvPr id="29" name="card-11"/>
          <p:cNvSpPr/>
          <p:nvPr/>
        </p:nvSpPr>
        <p:spPr>
          <a:xfrm>
            <a:off x="8046720" y="40233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0" name="icon-bg-12"/>
          <p:cNvSpPr/>
          <p:nvPr/>
        </p:nvSpPr>
        <p:spPr>
          <a:xfrm>
            <a:off x="8321040" y="42976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1" name="icon-1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4438498"/>
            <a:ext cx="358445" cy="35844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98280" y="4407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Riscos e incidentes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5074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Riscos, notificações ao CNCS, vulnerabilidades e fornecedores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Cinco passos até estar operacional</a:t>
            </a:r>
            <a:endParaRPr lang="en-US" sz="3200" dirty="0"/>
          </a:p>
        </p:txBody>
      </p:sp>
      <p:sp>
        <p:nvSpPr>
          <p:cNvPr id="3" name="timeline"/>
          <p:cNvSpPr/>
          <p:nvPr/>
        </p:nvSpPr>
        <p:spPr>
          <a:xfrm>
            <a:off x="1097280" y="2514600"/>
            <a:ext cx="9966960" cy="0"/>
          </a:xfrm>
          <a:prstGeom prst="line">
            <a:avLst/>
          </a:prstGeom>
          <a:noFill/>
          <a:ln w="25400">
            <a:solidFill>
              <a:srgbClr val="DDE2EA"/>
            </a:solidFill>
            <a:prstDash val="solid"/>
          </a:ln>
        </p:spPr>
      </p:sp>
      <p:sp>
        <p:nvSpPr>
          <p:cNvPr id="4" name="step-0"/>
          <p:cNvSpPr/>
          <p:nvPr/>
        </p:nvSpPr>
        <p:spPr>
          <a:xfrm>
            <a:off x="1097280" y="2148840"/>
            <a:ext cx="731520" cy="731520"/>
          </a:xfrm>
          <a:prstGeom prst="ellipse">
            <a:avLst/>
          </a:prstGeom>
          <a:solidFill>
            <a:srgbClr val="070A1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Criar o cliente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766C"/>
                </a:solidFill>
              </a:rPr>
              <a:t>Consultor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06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Ficha, referenciais e repositório</a:t>
            </a:r>
            <a:endParaRPr lang="en-US" sz="1300" dirty="0"/>
          </a:p>
        </p:txBody>
      </p:sp>
      <p:sp>
        <p:nvSpPr>
          <p:cNvPr id="9" name="step-1"/>
          <p:cNvSpPr/>
          <p:nvPr/>
        </p:nvSpPr>
        <p:spPr>
          <a:xfrm>
            <a:off x="3383280" y="2148840"/>
            <a:ext cx="731520" cy="731520"/>
          </a:xfrm>
          <a:prstGeom prst="ellipse">
            <a:avLst/>
          </a:prstGeom>
          <a:solidFill>
            <a:srgbClr val="CFA04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0A13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31546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Enquadramento no RJC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766C"/>
                </a:solidFill>
              </a:rPr>
              <a:t>Consultor e cliente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4206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Qualificação, nível, prazos e jornada</a:t>
            </a:r>
            <a:endParaRPr lang="en-US" sz="1300" dirty="0"/>
          </a:p>
        </p:txBody>
      </p:sp>
      <p:sp>
        <p:nvSpPr>
          <p:cNvPr id="14" name="step-2"/>
          <p:cNvSpPr/>
          <p:nvPr/>
        </p:nvSpPr>
        <p:spPr>
          <a:xfrm>
            <a:off x="5669280" y="2148840"/>
            <a:ext cx="731520" cy="731520"/>
          </a:xfrm>
          <a:prstGeom prst="ellipse">
            <a:avLst/>
          </a:prstGeom>
          <a:solidFill>
            <a:srgbClr val="070A1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31546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Atribuir a licença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766C"/>
                </a:solidFill>
              </a:rPr>
              <a:t>Consultor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4206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Core, PRO ou Enterprise</a:t>
            </a:r>
            <a:endParaRPr lang="en-US" sz="1300" dirty="0"/>
          </a:p>
        </p:txBody>
      </p:sp>
      <p:sp>
        <p:nvSpPr>
          <p:cNvPr id="19" name="step-3"/>
          <p:cNvSpPr/>
          <p:nvPr/>
        </p:nvSpPr>
        <p:spPr>
          <a:xfrm>
            <a:off x="7955280" y="2148840"/>
            <a:ext cx="731520" cy="731520"/>
          </a:xfrm>
          <a:prstGeom prst="ellipse">
            <a:avLst/>
          </a:prstGeom>
          <a:solidFill>
            <a:srgbClr val="070A1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552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31546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Convidar a equipa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766C"/>
                </a:solidFill>
              </a:rPr>
              <a:t>Consultor ou admin. do cliente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4206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Contas com o perfil certo</a:t>
            </a:r>
            <a:endParaRPr lang="en-US" sz="1300" dirty="0"/>
          </a:p>
        </p:txBody>
      </p:sp>
      <p:sp>
        <p:nvSpPr>
          <p:cNvPr id="24" name="step-4"/>
          <p:cNvSpPr/>
          <p:nvPr/>
        </p:nvSpPr>
        <p:spPr>
          <a:xfrm>
            <a:off x="10241280" y="2148840"/>
            <a:ext cx="731520" cy="731520"/>
          </a:xfrm>
          <a:prstGeom prst="ellipse">
            <a:avLst/>
          </a:prstGeom>
          <a:solidFill>
            <a:srgbClr val="070A1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2412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692640" y="31546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Primeira avaliação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766C"/>
                </a:solidFill>
              </a:rPr>
              <a:t>Consultor e cliente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4206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Ponto de partida e plano de ação</a:t>
            </a:r>
            <a:endParaRPr lang="en-US" sz="1300" dirty="0"/>
          </a:p>
        </p:txBody>
      </p:sp>
      <p:sp>
        <p:nvSpPr>
          <p:cNvPr id="29" name="card-13"/>
          <p:cNvSpPr/>
          <p:nvPr/>
        </p:nvSpPr>
        <p:spPr>
          <a:xfrm>
            <a:off x="548640" y="521208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F7F2E7"/>
          </a:solidFill>
          <a:ln w="12700">
            <a:solidFill>
              <a:srgbClr val="F7F2E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Duração: 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uma reunião de 30 a 45 minutos para os passos 1 a 3, com a informação preparada (manual, secção 2).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Três perfis, responsabilidades claras</a:t>
            </a:r>
            <a:endParaRPr lang="en-US" sz="3200" dirty="0"/>
          </a:p>
        </p:txBody>
      </p:sp>
      <p:sp>
        <p:nvSpPr>
          <p:cNvPr id="3" name="card-14"/>
          <p:cNvSpPr/>
          <p:nvPr/>
        </p:nvSpPr>
        <p:spPr>
          <a:xfrm>
            <a:off x="548640" y="146304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icon-bg-15"/>
          <p:cNvSpPr/>
          <p:nvPr/>
        </p:nvSpPr>
        <p:spPr>
          <a:xfrm>
            <a:off x="868680" y="1783080"/>
            <a:ext cx="685800" cy="685800"/>
          </a:xfrm>
          <a:prstGeom prst="ellipse">
            <a:avLst/>
          </a:prstGeom>
          <a:solidFill>
            <a:srgbClr val="070A13"/>
          </a:solidFill>
          <a:ln w="12700">
            <a:solidFill>
              <a:srgbClr val="070A13"/>
            </a:solidFill>
            <a:prstDash val="solid"/>
          </a:ln>
        </p:spPr>
      </p:sp>
      <p:pic>
        <p:nvPicPr>
          <p:cNvPr id="5" name="icon-1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193395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Consultor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766C"/>
                </a:solidFill>
              </a:rPr>
              <a:t>Administrador da plataforma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65760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Cria o cliente e a licença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Faz ou valida o enquadramento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Cria avaliações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Aceita ou rejeita evidências</a:t>
            </a:r>
            <a:endParaRPr lang="en-US" sz="1400" dirty="0"/>
          </a:p>
        </p:txBody>
      </p:sp>
      <p:sp>
        <p:nvSpPr>
          <p:cNvPr id="9" name="card-16"/>
          <p:cNvSpPr/>
          <p:nvPr/>
        </p:nvSpPr>
        <p:spPr>
          <a:xfrm>
            <a:off x="4297680" y="146304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070A13"/>
          </a:solidFill>
          <a:ln w="12700">
            <a:solidFill>
              <a:srgbClr val="070A13"/>
            </a:solidFill>
            <a:prstDash val="solid"/>
          </a:ln>
        </p:spPr>
      </p:sp>
      <p:sp>
        <p:nvSpPr>
          <p:cNvPr id="10" name="icon-bg-17"/>
          <p:cNvSpPr/>
          <p:nvPr/>
        </p:nvSpPr>
        <p:spPr>
          <a:xfrm>
            <a:off x="4617720" y="1783080"/>
            <a:ext cx="685800" cy="685800"/>
          </a:xfrm>
          <a:prstGeom prst="ellipse">
            <a:avLst/>
          </a:prstGeom>
          <a:solidFill>
            <a:srgbClr val="CFA04A"/>
          </a:solidFill>
          <a:ln w="12700">
            <a:solidFill>
              <a:srgbClr val="CFA04A"/>
            </a:solidFill>
            <a:prstDash val="solid"/>
          </a:ln>
        </p:spPr>
      </p:sp>
      <p:pic>
        <p:nvPicPr>
          <p:cNvPr id="11" name="icon-1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596" y="193395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Administrador do cliente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A04A"/>
                </a:solidFill>
              </a:rPr>
              <a:t>Responsável de cibersegurança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65760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9EF"/>
                </a:solidFill>
              </a:rPr>
              <a:t>Gere a jornada e as medidas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9EF"/>
                </a:solidFill>
              </a:rPr>
              <a:t>Aprova documentos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9EF"/>
                </a:solidFill>
              </a:rPr>
              <a:t>Convida utilizadores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9EF"/>
                </a:solidFill>
              </a:rPr>
              <a:t>Riscos, incidentes, fornecedores, IA</a:t>
            </a:r>
            <a:endParaRPr lang="en-US" sz="1400" dirty="0"/>
          </a:p>
        </p:txBody>
      </p:sp>
      <p:sp>
        <p:nvSpPr>
          <p:cNvPr id="15" name="card-18"/>
          <p:cNvSpPr/>
          <p:nvPr/>
        </p:nvSpPr>
        <p:spPr>
          <a:xfrm>
            <a:off x="8046720" y="146304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6" name="icon-bg-19"/>
          <p:cNvSpPr/>
          <p:nvPr/>
        </p:nvSpPr>
        <p:spPr>
          <a:xfrm>
            <a:off x="8366760" y="1783080"/>
            <a:ext cx="685800" cy="685800"/>
          </a:xfrm>
          <a:prstGeom prst="ellipse">
            <a:avLst/>
          </a:prstGeom>
          <a:solidFill>
            <a:srgbClr val="070A13"/>
          </a:solidFill>
          <a:ln w="12700">
            <a:solidFill>
              <a:srgbClr val="070A13"/>
            </a:solidFill>
            <a:prstDash val="solid"/>
          </a:ln>
        </p:spPr>
      </p:sp>
      <p:pic>
        <p:nvPicPr>
          <p:cNvPr id="17" name="icon-1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636" y="193395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6676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Utilizador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836676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766C"/>
                </a:solidFill>
              </a:rPr>
              <a:t>Restante equipa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365760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Consulta a jornada e a lei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Responde a avaliações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Trata as suas tarefas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Propõe documentos e evidências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enquadramento define o que tem de cumprir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766C"/>
                </a:solidFill>
              </a:rPr>
              <a:t>Sete perguntas, por esta ordem</a:t>
            </a:r>
            <a:endParaRPr lang="en-US" sz="1600" dirty="0"/>
          </a:p>
        </p:txBody>
      </p:sp>
      <p:sp>
        <p:nvSpPr>
          <p:cNvPr id="4" name="q-0"/>
          <p:cNvSpPr/>
          <p:nvPr/>
        </p:nvSpPr>
        <p:spPr>
          <a:xfrm>
            <a:off x="548640" y="1874520"/>
            <a:ext cx="384048" cy="384048"/>
          </a:xfrm>
          <a:prstGeom prst="ellipse">
            <a:avLst/>
          </a:prstGeom>
          <a:solidFill>
            <a:srgbClr val="070A13"/>
          </a:solidFill>
          <a:ln w="12700">
            <a:solidFill>
              <a:srgbClr val="070A1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FA04A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745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Atividade (Anexos I e II)</a:t>
            </a:r>
            <a:endParaRPr lang="en-US" sz="1500" dirty="0"/>
          </a:p>
        </p:txBody>
      </p:sp>
      <p:sp>
        <p:nvSpPr>
          <p:cNvPr id="7" name="q-1"/>
          <p:cNvSpPr/>
          <p:nvPr/>
        </p:nvSpPr>
        <p:spPr>
          <a:xfrm>
            <a:off x="548640" y="2441448"/>
            <a:ext cx="384048" cy="384048"/>
          </a:xfrm>
          <a:prstGeom prst="ellipse">
            <a:avLst/>
          </a:prstGeom>
          <a:solidFill>
            <a:srgbClr val="070A13"/>
          </a:solidFill>
          <a:ln w="12700">
            <a:solidFill>
              <a:srgbClr val="070A1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FA04A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4414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Tipo de entidade (art. 4.º)</a:t>
            </a:r>
            <a:endParaRPr lang="en-US" sz="1500" dirty="0"/>
          </a:p>
        </p:txBody>
      </p:sp>
      <p:sp>
        <p:nvSpPr>
          <p:cNvPr id="10" name="q-2"/>
          <p:cNvSpPr/>
          <p:nvPr/>
        </p:nvSpPr>
        <p:spPr>
          <a:xfrm>
            <a:off x="548640" y="3008376"/>
            <a:ext cx="384048" cy="384048"/>
          </a:xfrm>
          <a:prstGeom prst="ellipse">
            <a:avLst/>
          </a:prstGeom>
          <a:solidFill>
            <a:srgbClr val="070A13"/>
          </a:solidFill>
          <a:ln w="12700">
            <a:solidFill>
              <a:srgbClr val="070A1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FA04A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0083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Dimensão</a:t>
            </a:r>
            <a:endParaRPr lang="en-US" sz="1500" dirty="0"/>
          </a:p>
        </p:txBody>
      </p:sp>
      <p:sp>
        <p:nvSpPr>
          <p:cNvPr id="13" name="q-3"/>
          <p:cNvSpPr/>
          <p:nvPr/>
        </p:nvSpPr>
        <p:spPr>
          <a:xfrm>
            <a:off x="548640" y="3575304"/>
            <a:ext cx="384048" cy="384048"/>
          </a:xfrm>
          <a:prstGeom prst="ellipse">
            <a:avLst/>
          </a:prstGeom>
          <a:solidFill>
            <a:srgbClr val="070A13"/>
          </a:solidFill>
          <a:ln w="12700">
            <a:solidFill>
              <a:srgbClr val="070A1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FA04A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5753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Casos especiais</a:t>
            </a:r>
            <a:endParaRPr lang="en-US" sz="1500" dirty="0"/>
          </a:p>
        </p:txBody>
      </p:sp>
      <p:sp>
        <p:nvSpPr>
          <p:cNvPr id="16" name="q-4"/>
          <p:cNvSpPr/>
          <p:nvPr/>
        </p:nvSpPr>
        <p:spPr>
          <a:xfrm>
            <a:off x="548640" y="4142232"/>
            <a:ext cx="384048" cy="384048"/>
          </a:xfrm>
          <a:prstGeom prst="ellipse">
            <a:avLst/>
          </a:prstGeom>
          <a:solidFill>
            <a:srgbClr val="070A13"/>
          </a:solidFill>
          <a:ln w="12700">
            <a:solidFill>
              <a:srgbClr val="070A1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FA04A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1422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Entidade pública</a:t>
            </a:r>
            <a:endParaRPr lang="en-US" sz="1500" dirty="0"/>
          </a:p>
        </p:txBody>
      </p:sp>
      <p:sp>
        <p:nvSpPr>
          <p:cNvPr id="19" name="q-5"/>
          <p:cNvSpPr/>
          <p:nvPr/>
        </p:nvSpPr>
        <p:spPr>
          <a:xfrm>
            <a:off x="548640" y="4709160"/>
            <a:ext cx="384048" cy="384048"/>
          </a:xfrm>
          <a:prstGeom prst="ellipse">
            <a:avLst/>
          </a:prstGeom>
          <a:solidFill>
            <a:srgbClr val="070A13"/>
          </a:solidFill>
          <a:ln w="12700">
            <a:solidFill>
              <a:srgbClr val="070A1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FA04A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7091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Prazos e decisões do CNCS</a:t>
            </a:r>
            <a:endParaRPr lang="en-US" sz="1500" dirty="0"/>
          </a:p>
        </p:txBody>
      </p:sp>
      <p:sp>
        <p:nvSpPr>
          <p:cNvPr id="22" name="q-6"/>
          <p:cNvSpPr/>
          <p:nvPr/>
        </p:nvSpPr>
        <p:spPr>
          <a:xfrm>
            <a:off x="548640" y="5276088"/>
            <a:ext cx="384048" cy="384048"/>
          </a:xfrm>
          <a:prstGeom prst="ellipse">
            <a:avLst/>
          </a:prstGeom>
          <a:solidFill>
            <a:srgbClr val="070A13"/>
          </a:solidFill>
          <a:ln w="12700">
            <a:solidFill>
              <a:srgbClr val="070A1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5276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FA04A"/>
                </a:solidFill>
              </a:rPr>
              <a:t>7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52760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Resultado com a base legal</a:t>
            </a:r>
            <a:endParaRPr lang="en-US" sz="1500" dirty="0"/>
          </a:p>
        </p:txBody>
      </p:sp>
      <p:sp>
        <p:nvSpPr>
          <p:cNvPr id="25" name="card-20"/>
          <p:cNvSpPr/>
          <p:nvPr/>
        </p:nvSpPr>
        <p:spPr>
          <a:xfrm>
            <a:off x="5486400" y="1463040"/>
            <a:ext cx="2926080" cy="1691640"/>
          </a:xfrm>
          <a:prstGeom prst="roundRect">
            <a:avLst>
              <a:gd name="adj" fmla="val 6486"/>
            </a:avLst>
          </a:prstGeom>
          <a:solidFill>
            <a:srgbClr val="070A13"/>
          </a:solidFill>
          <a:ln w="12700">
            <a:solidFill>
              <a:srgbClr val="070A1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15000" y="1691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FA04A"/>
                </a:solidFill>
              </a:rPr>
              <a:t>Essencial ou importante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715000" y="22860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9EF"/>
                </a:solidFill>
              </a:rPr>
              <a:t>Medidas do nível Básico, Substancial ou Elevado (cumulativas)</a:t>
            </a:r>
            <a:endParaRPr lang="en-US" sz="1300" dirty="0"/>
          </a:p>
        </p:txBody>
      </p:sp>
      <p:sp>
        <p:nvSpPr>
          <p:cNvPr id="28" name="card-21"/>
          <p:cNvSpPr/>
          <p:nvPr/>
        </p:nvSpPr>
        <p:spPr>
          <a:xfrm>
            <a:off x="8595360" y="1463040"/>
            <a:ext cx="2926080" cy="1691640"/>
          </a:xfrm>
          <a:prstGeom prst="roundRect">
            <a:avLst>
              <a:gd name="adj" fmla="val 6486"/>
            </a:avLst>
          </a:prstGeom>
          <a:solidFill>
            <a:srgbClr val="070A13"/>
          </a:solidFill>
          <a:ln w="12700">
            <a:solidFill>
              <a:srgbClr val="070A1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823960" y="1691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FA04A"/>
                </a:solidFill>
              </a:rPr>
              <a:t>Pública relevante A ou B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823960" y="22860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9EF"/>
                </a:solidFill>
              </a:rPr>
              <a:t>Medidas do Anexo IV; o Grupo A inclui o B</a:t>
            </a:r>
            <a:endParaRPr lang="en-US" sz="1300" dirty="0"/>
          </a:p>
        </p:txBody>
      </p:sp>
      <p:sp>
        <p:nvSpPr>
          <p:cNvPr id="31" name="card-22"/>
          <p:cNvSpPr/>
          <p:nvPr/>
        </p:nvSpPr>
        <p:spPr>
          <a:xfrm>
            <a:off x="5486400" y="3337560"/>
            <a:ext cx="2926080" cy="1691640"/>
          </a:xfrm>
          <a:prstGeom prst="roundRect">
            <a:avLst>
              <a:gd name="adj" fmla="val 648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715000" y="3566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Não abrangida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5715000" y="41605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Boas práticas, por exemplo ISO/IEC 27001</a:t>
            </a:r>
            <a:endParaRPr lang="en-US" sz="1300" dirty="0"/>
          </a:p>
        </p:txBody>
      </p:sp>
      <p:sp>
        <p:nvSpPr>
          <p:cNvPr id="34" name="card-23"/>
          <p:cNvSpPr/>
          <p:nvPr/>
        </p:nvSpPr>
        <p:spPr>
          <a:xfrm>
            <a:off x="8595360" y="3337560"/>
            <a:ext cx="2926080" cy="1691640"/>
          </a:xfrm>
          <a:prstGeom prst="roundRect">
            <a:avLst>
              <a:gd name="adj" fmla="val 648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823960" y="3566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Por determinar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823960" y="41605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Pontos em aberto a confirmar com o CNCS</a:t>
            </a:r>
            <a:endParaRPr lang="en-US" sz="1300" dirty="0"/>
          </a:p>
        </p:txBody>
      </p:sp>
      <p:sp>
        <p:nvSpPr>
          <p:cNvPr id="37" name="card-24"/>
          <p:cNvSpPr/>
          <p:nvPr/>
        </p:nvSpPr>
        <p:spPr>
          <a:xfrm>
            <a:off x="5486400" y="5303520"/>
            <a:ext cx="6035040" cy="685800"/>
          </a:xfrm>
          <a:prstGeom prst="roundRect">
            <a:avLst>
              <a:gd name="adj" fmla="val 16000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715000" y="537667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766C"/>
                </a:solidFill>
              </a:rPr>
              <a:t>Ao confirmar: jornada criada, secção A atualizada e relatório de enquadramento guardado em PDF como evidência.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licença escolhe os módulos disponíveis</a:t>
            </a:r>
            <a:endParaRPr lang="en-US" sz="3200" dirty="0"/>
          </a:p>
        </p:txBody>
      </p:sp>
      <p:sp>
        <p:nvSpPr>
          <p:cNvPr id="3" name="card-25"/>
          <p:cNvSpPr/>
          <p:nvPr/>
        </p:nvSpPr>
        <p:spPr>
          <a:xfrm>
            <a:off x="548640" y="146304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70A13"/>
                </a:solidFill>
              </a:rPr>
              <a:t>Core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2971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Jornada de Conformidade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Avaliações e Plano de Ação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Documentos e Evidências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Biblioteca Legal e Guia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Gestão de Risco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Relatórios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Ativos e Ferramentas</a:t>
            </a:r>
            <a:endParaRPr lang="en-US" sz="1400" dirty="0"/>
          </a:p>
        </p:txBody>
      </p:sp>
      <p:sp>
        <p:nvSpPr>
          <p:cNvPr id="6" name="card-26"/>
          <p:cNvSpPr/>
          <p:nvPr/>
        </p:nvSpPr>
        <p:spPr>
          <a:xfrm>
            <a:off x="4297680" y="146304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7720" y="1737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70A13"/>
                </a:solidFill>
              </a:rPr>
              <a:t>PRO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468880"/>
            <a:ext cx="2971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Tudo o que está no Core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Gestão de Incidentes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Gestão de Fornecedores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Alertas de vulnerabilidades (CVE)</a:t>
            </a:r>
            <a:endParaRPr lang="en-US" sz="1400" dirty="0"/>
          </a:p>
        </p:txBody>
      </p:sp>
      <p:sp>
        <p:nvSpPr>
          <p:cNvPr id="9" name="card-27"/>
          <p:cNvSpPr/>
          <p:nvPr/>
        </p:nvSpPr>
        <p:spPr>
          <a:xfrm>
            <a:off x="8046720" y="146304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070A13"/>
          </a:solidFill>
          <a:ln w="12700">
            <a:solidFill>
              <a:srgbClr val="070A1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66760" y="1737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FA04A"/>
                </a:solidFill>
              </a:rPr>
              <a:t>Enterprise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2468880"/>
            <a:ext cx="2971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9EF"/>
                </a:solidFill>
              </a:rPr>
              <a:t>Tudo o que está no PRO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9EF"/>
                </a:solidFill>
              </a:rPr>
              <a:t>Assistente de IA, com quota mensal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9EF"/>
                </a:solidFill>
              </a:rPr>
              <a:t>Privacidade (quando disponível)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4"/>
                </a:solidFill>
              </a:rPr>
              <a:t>A licença define também os referenciais disponíveis e o número de utilizadores (mínimo de 5). O menu só mostra o que está incluído.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2377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PARTE 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731520" y="2788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Navegar e trabalhar no dia a dia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731520" y="39319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CFDA"/>
                </a:solidFill>
              </a:rPr>
              <a:t>Entrar, o menu, a jornada, as medidas, as evidências e as avaliações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3152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92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menu segue a ordem do trabalho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4"/>
                </a:solidFill>
              </a:rPr>
              <a:t>Entrar em app.ankoraone.com com Google, Microsoft ou email. Só aparecem os itens da licença e do perfil.</a:t>
            </a:r>
            <a:endParaRPr lang="en-US" sz="1600" dirty="0"/>
          </a:p>
        </p:txBody>
      </p:sp>
      <p:sp>
        <p:nvSpPr>
          <p:cNvPr id="4" name="card-28"/>
          <p:cNvSpPr/>
          <p:nvPr/>
        </p:nvSpPr>
        <p:spPr>
          <a:xfrm>
            <a:off x="548640" y="1874520"/>
            <a:ext cx="2057400" cy="3977640"/>
          </a:xfrm>
          <a:prstGeom prst="roundRect">
            <a:avLst>
              <a:gd name="adj" fmla="val 533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icon-bg-29"/>
          <p:cNvSpPr/>
          <p:nvPr/>
        </p:nvSpPr>
        <p:spPr>
          <a:xfrm>
            <a:off x="822960" y="2148840"/>
            <a:ext cx="594360" cy="594360"/>
          </a:xfrm>
          <a:prstGeom prst="ellipse">
            <a:avLst/>
          </a:prstGeom>
          <a:solidFill>
            <a:srgbClr val="070A13"/>
          </a:solidFill>
          <a:ln w="12700">
            <a:solidFill>
              <a:srgbClr val="070A13"/>
            </a:solidFill>
            <a:prstDash val="solid"/>
          </a:ln>
        </p:spPr>
      </p:sp>
      <p:pic>
        <p:nvPicPr>
          <p:cNvPr id="6" name="icon-2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22795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9260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Visão geral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0332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Painel</a:t>
            </a:r>
            <a:endParaRPr lang="en-US" sz="1300" dirty="0"/>
          </a:p>
        </p:txBody>
      </p:sp>
      <p:sp>
        <p:nvSpPr>
          <p:cNvPr id="9" name="card-30"/>
          <p:cNvSpPr/>
          <p:nvPr/>
        </p:nvSpPr>
        <p:spPr>
          <a:xfrm>
            <a:off x="2788920" y="1874520"/>
            <a:ext cx="2057400" cy="3977640"/>
          </a:xfrm>
          <a:prstGeom prst="roundRect">
            <a:avLst>
              <a:gd name="adj" fmla="val 5333"/>
            </a:avLst>
          </a:prstGeom>
          <a:solidFill>
            <a:srgbClr val="070A13"/>
          </a:solidFill>
          <a:ln w="12700">
            <a:solidFill>
              <a:srgbClr val="070A13"/>
            </a:solidFill>
            <a:prstDash val="solid"/>
          </a:ln>
        </p:spPr>
      </p:sp>
      <p:sp>
        <p:nvSpPr>
          <p:cNvPr id="10" name="icon-bg-31"/>
          <p:cNvSpPr/>
          <p:nvPr/>
        </p:nvSpPr>
        <p:spPr>
          <a:xfrm>
            <a:off x="3063240" y="2148840"/>
            <a:ext cx="594360" cy="594360"/>
          </a:xfrm>
          <a:prstGeom prst="ellipse">
            <a:avLst/>
          </a:prstGeom>
          <a:solidFill>
            <a:srgbClr val="CFA04A"/>
          </a:solidFill>
          <a:ln w="12700">
            <a:solidFill>
              <a:srgbClr val="CFA04A"/>
            </a:solidFill>
            <a:prstDash val="solid"/>
          </a:ln>
        </p:spPr>
      </p:sp>
      <p:pic>
        <p:nvPicPr>
          <p:cNvPr id="11" name="icon-3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999" y="22795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063240" y="29260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Avaliar e comprovar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063240" y="370332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9EF"/>
                </a:solidFill>
              </a:rPr>
              <a:t>Jornada · Avaliações · Evidências · Biblioteca Legal · Guia · Ativos</a:t>
            </a:r>
            <a:endParaRPr lang="en-US" sz="1300" dirty="0"/>
          </a:p>
        </p:txBody>
      </p:sp>
      <p:sp>
        <p:nvSpPr>
          <p:cNvPr id="14" name="card-32"/>
          <p:cNvSpPr/>
          <p:nvPr/>
        </p:nvSpPr>
        <p:spPr>
          <a:xfrm>
            <a:off x="5029200" y="1874520"/>
            <a:ext cx="2057400" cy="3977640"/>
          </a:xfrm>
          <a:prstGeom prst="roundRect">
            <a:avLst>
              <a:gd name="adj" fmla="val 533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5" name="icon-bg-33"/>
          <p:cNvSpPr/>
          <p:nvPr/>
        </p:nvSpPr>
        <p:spPr>
          <a:xfrm>
            <a:off x="5303520" y="2148840"/>
            <a:ext cx="594360" cy="594360"/>
          </a:xfrm>
          <a:prstGeom prst="ellipse">
            <a:avLst/>
          </a:prstGeom>
          <a:solidFill>
            <a:srgbClr val="070A13"/>
          </a:solidFill>
          <a:ln w="12700">
            <a:solidFill>
              <a:srgbClr val="070A13"/>
            </a:solidFill>
            <a:prstDash val="solid"/>
          </a:ln>
        </p:spPr>
      </p:sp>
      <p:pic>
        <p:nvPicPr>
          <p:cNvPr id="16" name="icon-3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279" y="227959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03520" y="29260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Melhorar e gerir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303520" y="370332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Plano de Ação · Recomendações · Tarefas · Riscos · Incidentes · Vulnerabilidades</a:t>
            </a:r>
            <a:endParaRPr lang="en-US" sz="1300" dirty="0"/>
          </a:p>
        </p:txBody>
      </p:sp>
      <p:sp>
        <p:nvSpPr>
          <p:cNvPr id="19" name="card-34"/>
          <p:cNvSpPr/>
          <p:nvPr/>
        </p:nvSpPr>
        <p:spPr>
          <a:xfrm>
            <a:off x="7269480" y="1874520"/>
            <a:ext cx="2057400" cy="3977640"/>
          </a:xfrm>
          <a:prstGeom prst="roundRect">
            <a:avLst>
              <a:gd name="adj" fmla="val 533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0" name="icon-bg-35"/>
          <p:cNvSpPr/>
          <p:nvPr/>
        </p:nvSpPr>
        <p:spPr>
          <a:xfrm>
            <a:off x="7543800" y="2148840"/>
            <a:ext cx="594360" cy="594360"/>
          </a:xfrm>
          <a:prstGeom prst="ellipse">
            <a:avLst/>
          </a:prstGeom>
          <a:solidFill>
            <a:srgbClr val="070A13"/>
          </a:solidFill>
          <a:ln w="12700">
            <a:solidFill>
              <a:srgbClr val="070A13"/>
            </a:solidFill>
            <a:prstDash val="solid"/>
          </a:ln>
        </p:spPr>
      </p:sp>
      <p:pic>
        <p:nvPicPr>
          <p:cNvPr id="21" name="icon-3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4559" y="227959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543800" y="29260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Governar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543800" y="370332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Documentos · Auditoria de Documentos · Cadeia de Abastecimento · Fornecedores</a:t>
            </a:r>
            <a:endParaRPr lang="en-US" sz="1300" dirty="0"/>
          </a:p>
        </p:txBody>
      </p:sp>
      <p:sp>
        <p:nvSpPr>
          <p:cNvPr id="24" name="card-36"/>
          <p:cNvSpPr/>
          <p:nvPr/>
        </p:nvSpPr>
        <p:spPr>
          <a:xfrm>
            <a:off x="9509760" y="1874520"/>
            <a:ext cx="2057400" cy="3977640"/>
          </a:xfrm>
          <a:prstGeom prst="roundRect">
            <a:avLst>
              <a:gd name="adj" fmla="val 533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5" name="icon-bg-37"/>
          <p:cNvSpPr/>
          <p:nvPr/>
        </p:nvSpPr>
        <p:spPr>
          <a:xfrm>
            <a:off x="9784080" y="2148840"/>
            <a:ext cx="594360" cy="594360"/>
          </a:xfrm>
          <a:prstGeom prst="ellipse">
            <a:avLst/>
          </a:prstGeom>
          <a:solidFill>
            <a:srgbClr val="070A13"/>
          </a:solidFill>
          <a:ln w="12700">
            <a:solidFill>
              <a:srgbClr val="070A13"/>
            </a:solidFill>
            <a:prstDash val="solid"/>
          </a:ln>
        </p:spPr>
      </p:sp>
      <p:pic>
        <p:nvPicPr>
          <p:cNvPr id="26" name="icon-3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4839" y="227959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84080" y="29260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Analisar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9784080" y="370332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Relatórios e relatório anual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59436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4"/>
                </a:solidFill>
              </a:rPr>
              <a:t>Sistema: Relatório de Emails e Definições (perfil, utilizadores, lembretes, repositório, tema e língua).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jornada organiza a lei em oito secções</a:t>
            </a:r>
            <a:endParaRPr lang="en-US" sz="3200" dirty="0"/>
          </a:p>
        </p:txBody>
      </p:sp>
      <p:sp>
        <p:nvSpPr>
          <p:cNvPr id="3" name="card-38"/>
          <p:cNvSpPr/>
          <p:nvPr/>
        </p:nvSpPr>
        <p:spPr>
          <a:xfrm>
            <a:off x="548640" y="141732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sec-A"/>
          <p:cNvSpPr/>
          <p:nvPr/>
        </p:nvSpPr>
        <p:spPr>
          <a:xfrm>
            <a:off x="749808" y="1691640"/>
            <a:ext cx="566928" cy="566928"/>
          </a:xfrm>
          <a:prstGeom prst="ellipse">
            <a:avLst/>
          </a:prstGeom>
          <a:solidFill>
            <a:srgbClr val="070A13"/>
          </a:solidFill>
          <a:ln w="12700">
            <a:solidFill>
              <a:srgbClr val="070A1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FA04A"/>
                </a:solidFill>
              </a:rPr>
              <a:t>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459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Âmbito e qualificação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3317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4"/>
                </a:solidFill>
              </a:rPr>
              <a:t>7 tarefas</a:t>
            </a:r>
            <a:endParaRPr lang="en-US" sz="1200" dirty="0"/>
          </a:p>
        </p:txBody>
      </p:sp>
      <p:sp>
        <p:nvSpPr>
          <p:cNvPr id="8" name="card-39"/>
          <p:cNvSpPr/>
          <p:nvPr/>
        </p:nvSpPr>
        <p:spPr>
          <a:xfrm>
            <a:off x="3337560" y="141732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sec-B"/>
          <p:cNvSpPr/>
          <p:nvPr/>
        </p:nvSpPr>
        <p:spPr>
          <a:xfrm>
            <a:off x="3538728" y="1691640"/>
            <a:ext cx="566928" cy="566928"/>
          </a:xfrm>
          <a:prstGeom prst="ellipse">
            <a:avLst/>
          </a:prstGeom>
          <a:solidFill>
            <a:srgbClr val="070A13"/>
          </a:solidFill>
          <a:ln w="12700">
            <a:solidFill>
              <a:srgbClr val="070A1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38728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FA04A"/>
                </a:solidFill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16459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Governação e responsáveis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251960" y="23317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4"/>
                </a:solidFill>
              </a:rPr>
              <a:t>5 tarefas</a:t>
            </a:r>
            <a:endParaRPr lang="en-US" sz="1200" dirty="0"/>
          </a:p>
        </p:txBody>
      </p:sp>
      <p:sp>
        <p:nvSpPr>
          <p:cNvPr id="13" name="card-40"/>
          <p:cNvSpPr/>
          <p:nvPr/>
        </p:nvSpPr>
        <p:spPr>
          <a:xfrm>
            <a:off x="6126480" y="141732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" name="sec-C"/>
          <p:cNvSpPr/>
          <p:nvPr/>
        </p:nvSpPr>
        <p:spPr>
          <a:xfrm>
            <a:off x="6327648" y="1691640"/>
            <a:ext cx="566928" cy="566928"/>
          </a:xfrm>
          <a:prstGeom prst="ellipse">
            <a:avLst/>
          </a:prstGeom>
          <a:solidFill>
            <a:srgbClr val="070A13"/>
          </a:solidFill>
          <a:ln w="12700">
            <a:solidFill>
              <a:srgbClr val="070A1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27648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FA04A"/>
                </a:solidFill>
              </a:rPr>
              <a:t>C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16459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Gestão dos riscos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23317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4"/>
                </a:solidFill>
              </a:rPr>
              <a:t>3 tarefas</a:t>
            </a:r>
            <a:endParaRPr lang="en-US" sz="1200" dirty="0"/>
          </a:p>
        </p:txBody>
      </p:sp>
      <p:sp>
        <p:nvSpPr>
          <p:cNvPr id="18" name="card-41"/>
          <p:cNvSpPr/>
          <p:nvPr/>
        </p:nvSpPr>
        <p:spPr>
          <a:xfrm>
            <a:off x="8915400" y="141732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9" name="sec-D"/>
          <p:cNvSpPr/>
          <p:nvPr/>
        </p:nvSpPr>
        <p:spPr>
          <a:xfrm>
            <a:off x="9116568" y="1691640"/>
            <a:ext cx="566928" cy="566928"/>
          </a:xfrm>
          <a:prstGeom prst="ellipse">
            <a:avLst/>
          </a:prstGeom>
          <a:solidFill>
            <a:srgbClr val="070A13"/>
          </a:solidFill>
          <a:ln w="12700">
            <a:solidFill>
              <a:srgbClr val="070A1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16568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FA04A"/>
                </a:solidFill>
              </a:rPr>
              <a:t>D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829800" y="16459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Medidas de cibersegurança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829800" y="23317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4"/>
                </a:solidFill>
              </a:rPr>
              <a:t>5 tarefas</a:t>
            </a:r>
            <a:endParaRPr lang="en-US" sz="1200" dirty="0"/>
          </a:p>
        </p:txBody>
      </p:sp>
      <p:sp>
        <p:nvSpPr>
          <p:cNvPr id="23" name="card-42"/>
          <p:cNvSpPr/>
          <p:nvPr/>
        </p:nvSpPr>
        <p:spPr>
          <a:xfrm>
            <a:off x="548640" y="292608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4" name="sec-E"/>
          <p:cNvSpPr/>
          <p:nvPr/>
        </p:nvSpPr>
        <p:spPr>
          <a:xfrm>
            <a:off x="749808" y="3200400"/>
            <a:ext cx="566928" cy="566928"/>
          </a:xfrm>
          <a:prstGeom prst="ellipse">
            <a:avLst/>
          </a:prstGeom>
          <a:solidFill>
            <a:srgbClr val="070A13"/>
          </a:solidFill>
          <a:ln w="12700">
            <a:solidFill>
              <a:srgbClr val="070A1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3200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FA04A"/>
                </a:solidFill>
              </a:rPr>
              <a:t>E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31546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Cadeia de abastecimento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3840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4"/>
                </a:solidFill>
              </a:rPr>
              <a:t>3 tarefas</a:t>
            </a:r>
            <a:endParaRPr lang="en-US" sz="1200" dirty="0"/>
          </a:p>
        </p:txBody>
      </p:sp>
      <p:sp>
        <p:nvSpPr>
          <p:cNvPr id="28" name="card-43"/>
          <p:cNvSpPr/>
          <p:nvPr/>
        </p:nvSpPr>
        <p:spPr>
          <a:xfrm>
            <a:off x="3337560" y="292608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sec-F"/>
          <p:cNvSpPr/>
          <p:nvPr/>
        </p:nvSpPr>
        <p:spPr>
          <a:xfrm>
            <a:off x="3538728" y="3200400"/>
            <a:ext cx="566928" cy="566928"/>
          </a:xfrm>
          <a:prstGeom prst="ellipse">
            <a:avLst/>
          </a:prstGeom>
          <a:solidFill>
            <a:srgbClr val="070A13"/>
          </a:solidFill>
          <a:ln w="12700">
            <a:solidFill>
              <a:srgbClr val="070A1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38728" y="3200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FA04A"/>
                </a:solidFill>
              </a:rPr>
              <a:t>F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4251960" y="31546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Incidentes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251960" y="3840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4"/>
                </a:solidFill>
              </a:rPr>
              <a:t>5 tarefas</a:t>
            </a:r>
            <a:endParaRPr lang="en-US" sz="1200" dirty="0"/>
          </a:p>
        </p:txBody>
      </p:sp>
      <p:sp>
        <p:nvSpPr>
          <p:cNvPr id="33" name="card-44"/>
          <p:cNvSpPr/>
          <p:nvPr/>
        </p:nvSpPr>
        <p:spPr>
          <a:xfrm>
            <a:off x="6126480" y="292608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4" name="sec-G"/>
          <p:cNvSpPr/>
          <p:nvPr/>
        </p:nvSpPr>
        <p:spPr>
          <a:xfrm>
            <a:off x="6327648" y="3200400"/>
            <a:ext cx="566928" cy="566928"/>
          </a:xfrm>
          <a:prstGeom prst="ellipse">
            <a:avLst/>
          </a:prstGeom>
          <a:solidFill>
            <a:srgbClr val="070A13"/>
          </a:solidFill>
          <a:ln w="12700">
            <a:solidFill>
              <a:srgbClr val="070A1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27648" y="3200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FA04A"/>
                </a:solidFill>
              </a:rPr>
              <a:t>G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7040880" y="31546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Formação e sensibilização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040880" y="3840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4"/>
                </a:solidFill>
              </a:rPr>
              <a:t>3 tarefas</a:t>
            </a:r>
            <a:endParaRPr lang="en-US" sz="1200" dirty="0"/>
          </a:p>
        </p:txBody>
      </p:sp>
      <p:sp>
        <p:nvSpPr>
          <p:cNvPr id="38" name="card-45"/>
          <p:cNvSpPr/>
          <p:nvPr/>
        </p:nvSpPr>
        <p:spPr>
          <a:xfrm>
            <a:off x="8915400" y="292608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9" name="sec-H"/>
          <p:cNvSpPr/>
          <p:nvPr/>
        </p:nvSpPr>
        <p:spPr>
          <a:xfrm>
            <a:off x="9116568" y="3200400"/>
            <a:ext cx="566928" cy="566928"/>
          </a:xfrm>
          <a:prstGeom prst="ellipse">
            <a:avLst/>
          </a:prstGeom>
          <a:solidFill>
            <a:srgbClr val="070A13"/>
          </a:solidFill>
          <a:ln w="12700">
            <a:solidFill>
              <a:srgbClr val="070A1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16568" y="3200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FA04A"/>
                </a:solidFill>
              </a:rPr>
              <a:t>H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9829800" y="31546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Relatórios e supervisão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9829800" y="3840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4"/>
                </a:solidFill>
              </a:rPr>
              <a:t>4 tarefas</a:t>
            </a:r>
            <a:endParaRPr lang="en-US" sz="1200" dirty="0"/>
          </a:p>
        </p:txBody>
      </p:sp>
      <p:sp>
        <p:nvSpPr>
          <p:cNvPr id="43" name="card-46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exemplo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296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620"/>
                </a:solidFill>
              </a:rPr>
              <a:t>EXEMPLO DE TAREFA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822960" y="50292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Nomear o responsável de cibersegurança e comunicá-lo em 20 dias úteis</a:t>
            </a:r>
            <a:endParaRPr lang="en-US" sz="1700" dirty="0"/>
          </a:p>
        </p:txBody>
      </p:sp>
      <p:sp>
        <p:nvSpPr>
          <p:cNvPr id="47" name="Text 45"/>
          <p:cNvSpPr txBox="1"/>
          <p:nvPr/>
        </p:nvSpPr>
        <p:spPr>
          <a:xfrm>
            <a:off x="822960" y="54864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RJC, art. 31.º, n.os 1, 3 e 4; Reg. 756/2026, art. 14.º    ·    estado, responsável, data-alvo, notas e evidências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Cada medida diz o que guardar como evidência</a:t>
            </a:r>
            <a:endParaRPr lang="en-US" sz="3200" dirty="0"/>
          </a:p>
        </p:txBody>
      </p:sp>
      <p:sp>
        <p:nvSpPr>
          <p:cNvPr id="3" name="medida"/>
          <p:cNvSpPr/>
          <p:nvPr/>
        </p:nvSpPr>
        <p:spPr>
          <a:xfrm>
            <a:off x="548640" y="1417320"/>
            <a:ext cx="576072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620"/>
                </a:solidFill>
              </a:rPr>
              <a:t>GR.CO-1   ·   nível Substancial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A missão, visão, estratégia de gestão dos riscos e objetivos da entidade são definidos e comunicados.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766C"/>
                </a:solidFill>
              </a:rPr>
              <a:t>O que guardar como evidência: 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Registo documentado da missão, visão, estratégia de gestão do risco e objetivos no âmbito da cibersegurança e respetivas prioridades.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4"/>
                </a:solidFill>
              </a:rPr>
              <a:t>Reg. 756/2026, Anexo III — GR.CO-1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463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474"/>
                </a:solidFill>
              </a:rPr>
              <a:t>Exemplo real da Biblioteca Legal › Conformidade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417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766C"/>
                </a:solidFill>
              </a:rPr>
              <a:t>Ciclo de vida de uma evidência</a:t>
            </a:r>
            <a:endParaRPr lang="en-US" sz="1600" dirty="0"/>
          </a:p>
        </p:txBody>
      </p:sp>
      <p:sp>
        <p:nvSpPr>
          <p:cNvPr id="10" name="card-47"/>
          <p:cNvSpPr/>
          <p:nvPr/>
        </p:nvSpPr>
        <p:spPr>
          <a:xfrm>
            <a:off x="6766560" y="192024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Por rever</a:t>
            </a:r>
            <a:endParaRPr lang="en-US" sz="1400" dirty="0"/>
          </a:p>
        </p:txBody>
      </p:sp>
      <p:sp>
        <p:nvSpPr>
          <p:cNvPr id="12" name="card-48"/>
          <p:cNvSpPr/>
          <p:nvPr/>
        </p:nvSpPr>
        <p:spPr>
          <a:xfrm>
            <a:off x="6766560" y="2633472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26A699"/>
          </a:solidFill>
          <a:ln w="12700">
            <a:solidFill>
              <a:srgbClr val="26A6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26334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Aceite e válida</a:t>
            </a:r>
            <a:endParaRPr lang="en-US" sz="1400" dirty="0"/>
          </a:p>
        </p:txBody>
      </p:sp>
      <p:sp>
        <p:nvSpPr>
          <p:cNvPr id="14" name="card-49"/>
          <p:cNvSpPr/>
          <p:nvPr/>
        </p:nvSpPr>
        <p:spPr>
          <a:xfrm>
            <a:off x="6766560" y="3346704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F7F2E7"/>
          </a:solidFill>
          <a:ln w="12700">
            <a:solidFill>
              <a:srgbClr val="F7F2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334670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Expirada</a:t>
            </a:r>
            <a:endParaRPr lang="en-US" sz="1400" dirty="0"/>
          </a:p>
        </p:txBody>
      </p:sp>
      <p:sp>
        <p:nvSpPr>
          <p:cNvPr id="16" name="card-50"/>
          <p:cNvSpPr/>
          <p:nvPr/>
        </p:nvSpPr>
        <p:spPr>
          <a:xfrm>
            <a:off x="6766560" y="4059936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40599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Substituída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Carregada; o consultor revê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26334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Cumpre o critério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0" y="334670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Passou a data de validade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40599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Há uma versão nova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48463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Regras: 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ficheiros até 8 MB, nunca públicos; cada abertura fica registada; evidências de ativos são restritas.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Avaliar a maturidade de 0 a 5 e transformar lacunas em tarefas</a:t>
            </a:r>
            <a:endParaRPr lang="en-US" sz="3200" dirty="0"/>
          </a:p>
        </p:txBody>
      </p:sp>
      <p:sp>
        <p:nvSpPr>
          <p:cNvPr id="3" name="card-51"/>
          <p:cNvSpPr/>
          <p:nvPr/>
        </p:nvSpPr>
        <p:spPr>
          <a:xfrm>
            <a:off x="548640" y="1508760"/>
            <a:ext cx="1737360" cy="1417320"/>
          </a:xfrm>
          <a:prstGeom prst="roundRect">
            <a:avLst>
              <a:gd name="adj" fmla="val 7742"/>
            </a:avLst>
          </a:prstGeom>
          <a:solidFill>
            <a:srgbClr val="E9EDF2"/>
          </a:solidFill>
          <a:ln w="12700">
            <a:solidFill>
              <a:srgbClr val="E9ED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70A13"/>
                </a:solidFill>
              </a:rPr>
              <a:t>0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31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Inexistente</a:t>
            </a:r>
            <a:endParaRPr lang="en-US" sz="1300" dirty="0"/>
          </a:p>
        </p:txBody>
      </p:sp>
      <p:sp>
        <p:nvSpPr>
          <p:cNvPr id="6" name="card-52"/>
          <p:cNvSpPr/>
          <p:nvPr/>
        </p:nvSpPr>
        <p:spPr>
          <a:xfrm>
            <a:off x="2404872" y="1508760"/>
            <a:ext cx="1737360" cy="1417320"/>
          </a:xfrm>
          <a:prstGeom prst="roundRect">
            <a:avLst>
              <a:gd name="adj" fmla="val 7742"/>
            </a:avLst>
          </a:prstGeom>
          <a:solidFill>
            <a:srgbClr val="DCE2EA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04872" y="1600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70A13"/>
                </a:solidFill>
              </a:rPr>
              <a:t>1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496312" y="2331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Inicial</a:t>
            </a:r>
            <a:endParaRPr lang="en-US" sz="1300" dirty="0"/>
          </a:p>
        </p:txBody>
      </p:sp>
      <p:sp>
        <p:nvSpPr>
          <p:cNvPr id="9" name="card-53"/>
          <p:cNvSpPr/>
          <p:nvPr/>
        </p:nvSpPr>
        <p:spPr>
          <a:xfrm>
            <a:off x="4261104" y="1508760"/>
            <a:ext cx="1737360" cy="1417320"/>
          </a:xfrm>
          <a:prstGeom prst="roundRect">
            <a:avLst>
              <a:gd name="adj" fmla="val 7742"/>
            </a:avLst>
          </a:prstGeom>
          <a:solidFill>
            <a:srgbClr val="C6CFDB"/>
          </a:solidFill>
          <a:ln w="12700">
            <a:solidFill>
              <a:srgbClr val="C6CF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61104" y="1600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70A13"/>
                </a:solidFill>
              </a:rPr>
              <a:t>2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352544" y="2331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Em desenvolvimento</a:t>
            </a:r>
            <a:endParaRPr lang="en-US" sz="1300" dirty="0"/>
          </a:p>
        </p:txBody>
      </p:sp>
      <p:sp>
        <p:nvSpPr>
          <p:cNvPr id="12" name="card-54"/>
          <p:cNvSpPr/>
          <p:nvPr/>
        </p:nvSpPr>
        <p:spPr>
          <a:xfrm>
            <a:off x="6117336" y="1508760"/>
            <a:ext cx="1737360" cy="1417320"/>
          </a:xfrm>
          <a:prstGeom prst="roundRect">
            <a:avLst>
              <a:gd name="adj" fmla="val 7742"/>
            </a:avLst>
          </a:prstGeom>
          <a:solidFill>
            <a:srgbClr val="9AA7BA"/>
          </a:solidFill>
          <a:ln w="12700">
            <a:solidFill>
              <a:srgbClr val="9AA7B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17336" y="1600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70A13"/>
                </a:solidFill>
              </a:rPr>
              <a:t>3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208776" y="2331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Definido</a:t>
            </a:r>
            <a:endParaRPr lang="en-US" sz="1300" dirty="0"/>
          </a:p>
        </p:txBody>
      </p:sp>
      <p:sp>
        <p:nvSpPr>
          <p:cNvPr id="15" name="card-55"/>
          <p:cNvSpPr/>
          <p:nvPr/>
        </p:nvSpPr>
        <p:spPr>
          <a:xfrm>
            <a:off x="7973568" y="1508760"/>
            <a:ext cx="1737360" cy="1417320"/>
          </a:xfrm>
          <a:prstGeom prst="roundRect">
            <a:avLst>
              <a:gd name="adj" fmla="val 7742"/>
            </a:avLst>
          </a:prstGeom>
          <a:solidFill>
            <a:srgbClr val="CFA04A"/>
          </a:solidFill>
          <a:ln w="12700">
            <a:solidFill>
              <a:srgbClr val="CFA0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73568" y="1600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70A13"/>
                </a:solidFill>
              </a:rPr>
              <a:t>4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8065008" y="2331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Gerido</a:t>
            </a:r>
            <a:endParaRPr lang="en-US" sz="1300" dirty="0"/>
          </a:p>
        </p:txBody>
      </p:sp>
      <p:sp>
        <p:nvSpPr>
          <p:cNvPr id="18" name="card-56"/>
          <p:cNvSpPr/>
          <p:nvPr/>
        </p:nvSpPr>
        <p:spPr>
          <a:xfrm>
            <a:off x="9829800" y="1508760"/>
            <a:ext cx="1737360" cy="1417320"/>
          </a:xfrm>
          <a:prstGeom prst="roundRect">
            <a:avLst>
              <a:gd name="adj" fmla="val 7742"/>
            </a:avLst>
          </a:prstGeom>
          <a:solidFill>
            <a:srgbClr val="070A13"/>
          </a:solidFill>
          <a:ln w="12700">
            <a:solidFill>
              <a:srgbClr val="070A1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29800" y="1600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FA04A"/>
                </a:solidFill>
              </a:rPr>
              <a:t>5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9921240" y="2331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Otimizado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6620"/>
                </a:solidFill>
              </a:rPr>
              <a:t>Nível-alvo por omissão: 4 (Gerido)</a:t>
            </a:r>
            <a:endParaRPr lang="en-US" sz="1200" dirty="0"/>
          </a:p>
        </p:txBody>
      </p:sp>
      <p:sp>
        <p:nvSpPr>
          <p:cNvPr id="22" name="card-57"/>
          <p:cNvSpPr/>
          <p:nvPr/>
        </p:nvSpPr>
        <p:spPr>
          <a:xfrm>
            <a:off x="548640" y="36576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3840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70A13"/>
                </a:solidFill>
              </a:rPr>
              <a:t>Avaliação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3434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O consultor cria-a com os referenciais (ex.: NIS2 e ISO/IEC 27001)</a:t>
            </a:r>
            <a:endParaRPr lang="en-US" sz="1300" dirty="0"/>
          </a:p>
        </p:txBody>
      </p:sp>
      <p:sp>
        <p:nvSpPr>
          <p:cNvPr id="25" name="seta-0"/>
          <p:cNvSpPr/>
          <p:nvPr/>
        </p:nvSpPr>
        <p:spPr>
          <a:xfrm>
            <a:off x="3182112" y="4526280"/>
            <a:ext cx="128016" cy="320040"/>
          </a:xfrm>
          <a:prstGeom prst="chevron">
            <a:avLst/>
          </a:prstGeom>
          <a:solidFill>
            <a:srgbClr val="CFA04A"/>
          </a:solidFill>
          <a:ln w="12700">
            <a:solidFill>
              <a:srgbClr val="CFA04A"/>
            </a:solidFill>
            <a:prstDash val="solid"/>
          </a:ln>
        </p:spPr>
      </p:sp>
      <p:sp>
        <p:nvSpPr>
          <p:cNvPr id="26" name="card-58"/>
          <p:cNvSpPr/>
          <p:nvPr/>
        </p:nvSpPr>
        <p:spPr>
          <a:xfrm>
            <a:off x="3337560" y="36576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566160" y="3840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70A13"/>
                </a:solidFill>
              </a:rPr>
              <a:t>Respostas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3566160" y="43434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A equipa responde e liga evidências a cada pergunta</a:t>
            </a:r>
            <a:endParaRPr lang="en-US" sz="1300" dirty="0"/>
          </a:p>
        </p:txBody>
      </p:sp>
      <p:sp>
        <p:nvSpPr>
          <p:cNvPr id="29" name="seta-1"/>
          <p:cNvSpPr/>
          <p:nvPr/>
        </p:nvSpPr>
        <p:spPr>
          <a:xfrm>
            <a:off x="5971032" y="4526280"/>
            <a:ext cx="128016" cy="320040"/>
          </a:xfrm>
          <a:prstGeom prst="chevron">
            <a:avLst/>
          </a:prstGeom>
          <a:solidFill>
            <a:srgbClr val="CFA04A"/>
          </a:solidFill>
          <a:ln w="12700">
            <a:solidFill>
              <a:srgbClr val="CFA04A"/>
            </a:solidFill>
            <a:prstDash val="solid"/>
          </a:ln>
        </p:spPr>
      </p:sp>
      <p:sp>
        <p:nvSpPr>
          <p:cNvPr id="30" name="card-59"/>
          <p:cNvSpPr/>
          <p:nvPr/>
        </p:nvSpPr>
        <p:spPr>
          <a:xfrm>
            <a:off x="6126480" y="36576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55080" y="3840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70A13"/>
                </a:solidFill>
              </a:rPr>
              <a:t>Pontuação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6355080" y="43434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Por domínio, por referencial e global</a:t>
            </a:r>
            <a:endParaRPr lang="en-US" sz="1300" dirty="0"/>
          </a:p>
        </p:txBody>
      </p:sp>
      <p:sp>
        <p:nvSpPr>
          <p:cNvPr id="33" name="seta-2"/>
          <p:cNvSpPr/>
          <p:nvPr/>
        </p:nvSpPr>
        <p:spPr>
          <a:xfrm>
            <a:off x="8759952" y="4526280"/>
            <a:ext cx="128016" cy="320040"/>
          </a:xfrm>
          <a:prstGeom prst="chevron">
            <a:avLst/>
          </a:prstGeom>
          <a:solidFill>
            <a:srgbClr val="CFA04A"/>
          </a:solidFill>
          <a:ln w="12700">
            <a:solidFill>
              <a:srgbClr val="CFA04A"/>
            </a:solidFill>
            <a:prstDash val="solid"/>
          </a:ln>
        </p:spPr>
      </p:sp>
      <p:sp>
        <p:nvSpPr>
          <p:cNvPr id="34" name="card-60"/>
          <p:cNvSpPr/>
          <p:nvPr/>
        </p:nvSpPr>
        <p:spPr>
          <a:xfrm>
            <a:off x="8915400" y="36576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44000" y="3840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766C"/>
                </a:solidFill>
              </a:rPr>
              <a:t>Plano de ação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9144000" y="43434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Recomendações com prioridade, esforço e prazo, que viram tarefas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assistente de IA prepara rascunhos, não decide</a:t>
            </a:r>
            <a:endParaRPr lang="en-US" sz="3200" dirty="0"/>
          </a:p>
        </p:txBody>
      </p:sp>
      <p:sp>
        <p:nvSpPr>
          <p:cNvPr id="3" name="icon-bg-61"/>
          <p:cNvSpPr/>
          <p:nvPr/>
        </p:nvSpPr>
        <p:spPr>
          <a:xfrm>
            <a:off x="548640" y="1417320"/>
            <a:ext cx="731520" cy="7315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4" name="icon-6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74" y="1578254"/>
            <a:ext cx="409651" cy="4096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5087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Ativo só onde há documentos para construir ou analisar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7744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Políticas, procedimentos e planos de evidências por medida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Análise de evidências face ao critério oficial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Notificações de incidentes e relatório anual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Questionários a fornecedores e leitura de respostas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Recomendações para o plano de ação</a:t>
            </a:r>
            <a:endParaRPr lang="en-US" sz="1500" dirty="0"/>
          </a:p>
        </p:txBody>
      </p:sp>
      <p:sp>
        <p:nvSpPr>
          <p:cNvPr id="7" name="card-62"/>
          <p:cNvSpPr/>
          <p:nvPr/>
        </p:nvSpPr>
        <p:spPr>
          <a:xfrm>
            <a:off x="6583680" y="1417320"/>
            <a:ext cx="5029200" cy="4526280"/>
          </a:xfrm>
          <a:prstGeom prst="roundRect">
            <a:avLst>
              <a:gd name="adj" fmla="val 2424"/>
            </a:avLst>
          </a:prstGeom>
          <a:solidFill>
            <a:srgbClr val="070A13"/>
          </a:solidFill>
          <a:ln w="12700">
            <a:solidFill>
              <a:srgbClr val="070A1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03720" y="1691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FA04A"/>
                </a:solidFill>
              </a:rPr>
              <a:t>REGRAS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903720" y="2148840"/>
            <a:ext cx="4434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9EF"/>
                </a:solidFill>
              </a:rPr>
              <a:t>Usa só os textos oficiais da Biblioteca Legal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9EF"/>
                </a:solidFill>
              </a:rPr>
              <a:t>O resultado é sempre um rascunho a aprovar por uma pessoa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9EF"/>
                </a:solidFill>
              </a:rPr>
              <a:t>Não recebe contactos, inventário de ativos nem evidências restritas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9EF"/>
                </a:solidFill>
              </a:rPr>
              <a:t>Cada pedido fica na auditoria e conta para a quota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9EF"/>
                </a:solidFill>
              </a:rPr>
              <a:t>Motor escolhido pelo administrador: Claude ou Base44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486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4"/>
                </a:solidFill>
              </a:rPr>
              <a:t>Incluído na licença Enterprise.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2377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PARTE 3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731520" y="2788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Guia por referencial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731520" y="39319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CFDA"/>
                </a:solidFill>
              </a:rPr>
              <a:t>RJC e NIS2, ISO/IEC 27001 e os restantes referenciais da plataforma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3152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92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RJC e NIS2: os prazos que não podem falhar</a:t>
            </a:r>
            <a:endParaRPr lang="en-US" sz="3200" dirty="0"/>
          </a:p>
        </p:txBody>
      </p:sp>
      <p:sp>
        <p:nvSpPr>
          <p:cNvPr id="3" name="card-63"/>
          <p:cNvSpPr/>
          <p:nvPr/>
        </p:nvSpPr>
        <p:spPr>
          <a:xfrm>
            <a:off x="548640" y="141732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070A13"/>
          </a:solidFill>
          <a:ln w="12700">
            <a:solidFill>
              <a:srgbClr val="070A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CFA04A"/>
                </a:solidFill>
              </a:rPr>
              <a:t>24 h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514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Notificação inicial de incidente significativo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FDA"/>
                </a:solidFill>
              </a:rPr>
              <a:t>RJC, arts. 41.º e 42.º</a:t>
            </a:r>
            <a:endParaRPr lang="en-US" sz="1100" dirty="0"/>
          </a:p>
        </p:txBody>
      </p:sp>
      <p:sp>
        <p:nvSpPr>
          <p:cNvPr id="7" name="card-64"/>
          <p:cNvSpPr/>
          <p:nvPr/>
        </p:nvSpPr>
        <p:spPr>
          <a:xfrm>
            <a:off x="3337560" y="141732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554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70A13"/>
                </a:solidFill>
              </a:rPr>
              <a:t>72 h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514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Atualização da notificação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4"/>
                </a:solidFill>
              </a:rPr>
              <a:t>RJC, art. 42.º</a:t>
            </a:r>
            <a:endParaRPr lang="en-US" sz="1100" dirty="0"/>
          </a:p>
        </p:txBody>
      </p:sp>
      <p:sp>
        <p:nvSpPr>
          <p:cNvPr id="11" name="card-65"/>
          <p:cNvSpPr/>
          <p:nvPr/>
        </p:nvSpPr>
        <p:spPr>
          <a:xfrm>
            <a:off x="6126480" y="141732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554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70A13"/>
                </a:solidFill>
              </a:rPr>
              <a:t>30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514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dias úteis para o relatório final do incidente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4"/>
                </a:solidFill>
              </a:rPr>
              <a:t>RJC, art. 44.º</a:t>
            </a:r>
            <a:endParaRPr lang="en-US" sz="1100" dirty="0"/>
          </a:p>
        </p:txBody>
      </p:sp>
      <p:sp>
        <p:nvSpPr>
          <p:cNvPr id="15" name="card-66"/>
          <p:cNvSpPr/>
          <p:nvPr/>
        </p:nvSpPr>
        <p:spPr>
          <a:xfrm>
            <a:off x="8915400" y="141732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0" y="1554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70A13"/>
                </a:solidFill>
              </a:rPr>
              <a:t>20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0" y="2514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dias úteis para nomear o responsável e o ponto de contacto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4"/>
                </a:solidFill>
              </a:rPr>
              <a:t>RJC, arts. 31.º e 32.º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132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Obrigação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Autoidentificação no CNCS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dias após iniciar atividade; 60 dias após a plataforma do CNCS, se já em atividade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de ativos acessíveis pela Internet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31 de janeiro do ano seguinte à qualificação ou em 6 meses; depois, anual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 anual (essenciais)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Último dia útil de janeiro, a partir de 2028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548640" y="589788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6620"/>
                </a:solidFill>
              </a:rPr>
              <a:t>Em vigor desde 3 de abril de 2026 (DL 125/2025). Arts. 27.º, n.os 1 e 2, 28.º a 30.º e 33.º do RJC: efeitos a 22 de junho de 2028.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ISO/IEC 27001: um guia com Declaração de Aplicabilidade</a:t>
            </a:r>
            <a:endParaRPr lang="en-US" sz="3200" dirty="0"/>
          </a:p>
        </p:txBody>
      </p:sp>
      <p:sp>
        <p:nvSpPr>
          <p:cNvPr id="3" name="card-67"/>
          <p:cNvSpPr/>
          <p:nvPr/>
        </p:nvSpPr>
        <p:spPr>
          <a:xfrm>
            <a:off x="548640" y="132588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F7F2E7"/>
          </a:solidFill>
          <a:ln w="12700">
            <a:solidFill>
              <a:srgbClr val="F7F2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620"/>
                </a:solidFill>
              </a:rPr>
              <a:t>Guia de preparação: 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a norma não está reproduzida (textos da AnkoraOne, validação com a norma em curso). Para certificação: texto oficial e entidade acreditada.</a:t>
            </a:r>
            <a:endParaRPr lang="en-US" sz="1400" dirty="0"/>
          </a:p>
        </p:txBody>
      </p:sp>
      <p:sp>
        <p:nvSpPr>
          <p:cNvPr id="5" name="card-68"/>
          <p:cNvSpPr/>
          <p:nvPr/>
        </p:nvSpPr>
        <p:spPr>
          <a:xfrm>
            <a:off x="548640" y="228600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9572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70A13"/>
                </a:solidFill>
              </a:rPr>
              <a:t>25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24231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requisitos do sistema de gestão (cláusulas 4 a 10)</a:t>
            </a:r>
            <a:endParaRPr lang="en-US" sz="1400" dirty="0"/>
          </a:p>
        </p:txBody>
      </p:sp>
      <p:sp>
        <p:nvSpPr>
          <p:cNvPr id="8" name="card-69"/>
          <p:cNvSpPr/>
          <p:nvPr/>
        </p:nvSpPr>
        <p:spPr>
          <a:xfrm>
            <a:off x="548640" y="347472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070A13"/>
          </a:solidFill>
          <a:ln w="12700">
            <a:solidFill>
              <a:srgbClr val="070A1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58444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FA04A"/>
                </a:solidFill>
              </a:rPr>
              <a:t>93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3611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controlos do Anexo A, com aplicabilidade e justificação</a:t>
            </a:r>
            <a:endParaRPr lang="en-US" sz="1400" dirty="0"/>
          </a:p>
        </p:txBody>
      </p:sp>
      <p:sp>
        <p:nvSpPr>
          <p:cNvPr id="11" name="card-70"/>
          <p:cNvSpPr/>
          <p:nvPr/>
        </p:nvSpPr>
        <p:spPr>
          <a:xfrm>
            <a:off x="548640" y="466344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77316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70A13"/>
                </a:solidFill>
              </a:rPr>
              <a:t>92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48006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controlos ligados ao QNRCS pelo Reg. 756/2026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2860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766C"/>
                </a:solidFill>
              </a:rPr>
              <a:t>Como trabalhar (Biblioteca Legal › ISO/IEC 27001)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743200"/>
            <a:ext cx="6492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11827"/>
                </a:solidFill>
              </a:rPr>
              <a:t>Cláusulas 4 a 6: âmbito, política, metodologia de riscos e objetivos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11827"/>
                </a:solidFill>
              </a:rPr>
              <a:t>Avaliação e tratamento de riscos em Gestão de Risco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11827"/>
                </a:solidFill>
              </a:rPr>
              <a:t>Anexo A: aplicável ou não, com justificação, para cada controlo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11827"/>
                </a:solidFill>
              </a:rPr>
              <a:t>Exportar a Declaração de Aplicabilidade e aprová-la em Documentos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11827"/>
                </a:solidFill>
              </a:rPr>
              <a:t>Evidências por controlo; as do RJC ligadas contam também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11827"/>
                </a:solidFill>
              </a:rPr>
              <a:t>Auditoria interna (9.2) e revisão pela gestão (9.3) antes da certificação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Outros referenciais disponíveis na plataforma</a:t>
            </a:r>
            <a:endParaRPr lang="en-US" sz="3200" dirty="0"/>
          </a:p>
        </p:txBody>
      </p:sp>
      <p:sp>
        <p:nvSpPr>
          <p:cNvPr id="3" name="card-71"/>
          <p:cNvSpPr/>
          <p:nvPr/>
        </p:nvSpPr>
        <p:spPr>
          <a:xfrm>
            <a:off x="548640" y="141732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70A13"/>
                </a:solidFill>
              </a:rPr>
              <a:t>QNRCS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756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766C"/>
                </a:solidFill>
              </a:rPr>
              <a:t>Reg. 756/2026, Anexo 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107 controlos em seis objetivos, com medida e verificação por nível</a:t>
            </a:r>
            <a:endParaRPr lang="en-US" sz="1300" dirty="0"/>
          </a:p>
        </p:txBody>
      </p:sp>
      <p:sp>
        <p:nvSpPr>
          <p:cNvPr id="7" name="card-72"/>
          <p:cNvSpPr/>
          <p:nvPr/>
        </p:nvSpPr>
        <p:spPr>
          <a:xfrm>
            <a:off x="4297680" y="141732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645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70A13"/>
                </a:solidFill>
              </a:rPr>
              <a:t>Requisitos técnicos NIS2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0756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766C"/>
                </a:solidFill>
              </a:rPr>
              <a:t>Reg. de Execução (UE) 2024/2690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468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161 requisitos para serviços digitais</a:t>
            </a:r>
            <a:endParaRPr lang="en-US" sz="1300" dirty="0"/>
          </a:p>
        </p:txBody>
      </p:sp>
      <p:sp>
        <p:nvSpPr>
          <p:cNvPr id="11" name="card-73"/>
          <p:cNvSpPr/>
          <p:nvPr/>
        </p:nvSpPr>
        <p:spPr>
          <a:xfrm>
            <a:off x="8046720" y="141732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45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70A13"/>
                </a:solidFill>
              </a:rPr>
              <a:t>DORA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756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766C"/>
                </a:solidFill>
              </a:rPr>
              <a:t>Reg. (UE) 2022/2554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468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111 obrigações e prazos de incidentes para o setor financeiro</a:t>
            </a:r>
            <a:endParaRPr lang="en-US" sz="1300" dirty="0"/>
          </a:p>
        </p:txBody>
      </p:sp>
      <p:sp>
        <p:nvSpPr>
          <p:cNvPr id="15" name="card-74"/>
          <p:cNvSpPr/>
          <p:nvPr/>
        </p:nvSpPr>
        <p:spPr>
          <a:xfrm>
            <a:off x="548640" y="36576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886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70A13"/>
                </a:solidFill>
              </a:rPr>
              <a:t>TISAX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3159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766C"/>
                </a:solidFill>
              </a:rPr>
              <a:t>VDA ISA 6.0.3 e 2027.1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709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80 e 78 controlos para a indústria automóvel</a:t>
            </a:r>
            <a:endParaRPr lang="en-US" sz="1300" dirty="0"/>
          </a:p>
        </p:txBody>
      </p:sp>
      <p:sp>
        <p:nvSpPr>
          <p:cNvPr id="19" name="card-75"/>
          <p:cNvSpPr/>
          <p:nvPr/>
        </p:nvSpPr>
        <p:spPr>
          <a:xfrm>
            <a:off x="4297680" y="36576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0" y="3886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70A13"/>
                </a:solidFill>
              </a:rPr>
              <a:t>CIS Controls v8.1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43159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766C"/>
                </a:solidFill>
              </a:rPr>
              <a:t>CIS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709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Identificadores; o texto entra com o ficheiro oficial da entidade</a:t>
            </a:r>
            <a:endParaRPr lang="en-US" sz="1300" dirty="0"/>
          </a:p>
        </p:txBody>
      </p:sp>
      <p:sp>
        <p:nvSpPr>
          <p:cNvPr id="23" name="card-76"/>
          <p:cNvSpPr/>
          <p:nvPr/>
        </p:nvSpPr>
        <p:spPr>
          <a:xfrm>
            <a:off x="8046720" y="36576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21040" y="3886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70A13"/>
                </a:solidFill>
              </a:rPr>
              <a:t>NIST CSF 2.0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43159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766C"/>
                </a:solidFill>
              </a:rPr>
              <a:t>NIST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709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</a:rPr>
              <a:t>Correspondências a partir do QNRCS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9436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4"/>
                </a:solidFill>
              </a:rPr>
              <a:t>Biblioteca Legal › Relações entre referenciais mostra as correspondências (1338 ligações) para reaproveitar evidências.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Os primeiros 90 dias</a:t>
            </a:r>
            <a:endParaRPr lang="en-US" sz="3200" dirty="0"/>
          </a:p>
        </p:txBody>
      </p:sp>
      <p:sp>
        <p:nvSpPr>
          <p:cNvPr id="3" name="linha-90"/>
          <p:cNvSpPr/>
          <p:nvPr/>
        </p:nvSpPr>
        <p:spPr>
          <a:xfrm>
            <a:off x="822960" y="2057400"/>
            <a:ext cx="10515600" cy="0"/>
          </a:xfrm>
          <a:prstGeom prst="line">
            <a:avLst/>
          </a:prstGeom>
          <a:noFill/>
          <a:ln w="25400">
            <a:solidFill>
              <a:srgbClr val="DDE2EA"/>
            </a:solidFill>
            <a:prstDash val="solid"/>
          </a:ln>
        </p:spPr>
      </p:sp>
      <p:sp>
        <p:nvSpPr>
          <p:cNvPr id="4" name="fase-0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70A1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5146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70A13"/>
                </a:solidFill>
              </a:rPr>
              <a:t>Semana 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4"/>
                </a:solidFill>
              </a:rPr>
              <a:t>Conta, enquadramento e equipa convidada</a:t>
            </a:r>
            <a:endParaRPr lang="en-US" sz="1400" dirty="0"/>
          </a:p>
        </p:txBody>
      </p:sp>
      <p:sp>
        <p:nvSpPr>
          <p:cNvPr id="7" name="fase-1"/>
          <p:cNvSpPr/>
          <p:nvPr/>
        </p:nvSpPr>
        <p:spPr>
          <a:xfrm>
            <a:off x="3429000" y="1828800"/>
            <a:ext cx="457200" cy="457200"/>
          </a:xfrm>
          <a:prstGeom prst="ellipse">
            <a:avLst/>
          </a:prstGeom>
          <a:solidFill>
            <a:srgbClr val="070A1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7560" y="25146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70A13"/>
                </a:solidFill>
              </a:rPr>
              <a:t>Semanas 2 a 4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9718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4"/>
                </a:solidFill>
              </a:rPr>
              <a:t>Responsável e ponto de contacto; autoidentificação; primeira avaliação NIS2 e ISO</a:t>
            </a:r>
            <a:endParaRPr lang="en-US" sz="1400" dirty="0"/>
          </a:p>
        </p:txBody>
      </p:sp>
      <p:sp>
        <p:nvSpPr>
          <p:cNvPr id="10" name="fase-2"/>
          <p:cNvSpPr/>
          <p:nvPr/>
        </p:nvSpPr>
        <p:spPr>
          <a:xfrm>
            <a:off x="6217920" y="1828800"/>
            <a:ext cx="457200" cy="457200"/>
          </a:xfrm>
          <a:prstGeom prst="ellipse">
            <a:avLst/>
          </a:prstGeom>
          <a:solidFill>
            <a:srgbClr val="070A1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25146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70A13"/>
                </a:solidFill>
              </a:rPr>
              <a:t>Mês 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9718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4"/>
                </a:solidFill>
              </a:rPr>
              <a:t>Políticas aprovadas; inventário de ativos; fornecedores críticos</a:t>
            </a:r>
            <a:endParaRPr lang="en-US" sz="1400" dirty="0"/>
          </a:p>
        </p:txBody>
      </p:sp>
      <p:sp>
        <p:nvSpPr>
          <p:cNvPr id="13" name="fase-3"/>
          <p:cNvSpPr/>
          <p:nvPr/>
        </p:nvSpPr>
        <p:spPr>
          <a:xfrm>
            <a:off x="9006840" y="1828800"/>
            <a:ext cx="457200" cy="457200"/>
          </a:xfrm>
          <a:prstGeom prst="ellipse">
            <a:avLst/>
          </a:prstGeom>
          <a:solidFill>
            <a:srgbClr val="CFA04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15400" y="25146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70A13"/>
                </a:solidFill>
              </a:rPr>
              <a:t>Mês 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9718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4"/>
                </a:solidFill>
              </a:rPr>
              <a:t>Medidas com evidências; procedimento de incidentes testado; plano revisto</a:t>
            </a:r>
            <a:endParaRPr lang="en-US" sz="1400" dirty="0"/>
          </a:p>
        </p:txBody>
      </p:sp>
      <p:sp>
        <p:nvSpPr>
          <p:cNvPr id="16" name="card-77"/>
          <p:cNvSpPr/>
          <p:nvPr/>
        </p:nvSpPr>
        <p:spPr>
          <a:xfrm>
            <a:off x="548640" y="4663440"/>
            <a:ext cx="11064240" cy="1325880"/>
          </a:xfrm>
          <a:prstGeom prst="roundRect">
            <a:avLst>
              <a:gd name="adj" fmla="val 8276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766C"/>
                </a:solidFill>
              </a:rPr>
              <a:t>Depois do arranque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Revisão trimestral da maturidade, análise anual dos riscos, lembretes de revisão de documentos e preparação do relatório anual.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2468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PRÓXIMO PASSO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731520" y="28803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Marcar a reunião de criação da conta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731520" y="41605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CFDA"/>
                </a:solidFill>
              </a:rPr>
              <a:t>Traga a informação da secção 2 do manual de onboarding.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9CFDA"/>
                </a:solidFill>
              </a:rPr>
              <a:t>app.ankoraone.com  ·  daniel.carvalho@ankoraone.com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koraOne">
  <a:themeElements>
    <a:clrScheme name="AnkoraOne">
      <a:dk1>
        <a:srgbClr val="070A13"/>
      </a:dk1>
      <a:lt1>
        <a:srgbClr val="FFFFFF"/>
      </a:lt1>
      <a:dk2>
        <a:srgbClr val="0C111D"/>
      </a:dk2>
      <a:lt2>
        <a:srgbClr val="F3F5F8"/>
      </a:lt2>
      <a:accent1>
        <a:srgbClr val="CFA04A"/>
      </a:accent1>
      <a:accent2>
        <a:srgbClr val="26A699"/>
      </a:accent2>
      <a:accent3>
        <a:srgbClr val="2B3550"/>
      </a:accent3>
      <a:accent4>
        <a:srgbClr val="E8B04B"/>
      </a:accent4>
      <a:accent5>
        <a:srgbClr val="5B6474"/>
      </a:accent5>
      <a:accent6>
        <a:srgbClr val="D9534F"/>
      </a:accent6>
      <a:hlink>
        <a:srgbClr val="26A699"/>
      </a:hlink>
      <a:folHlink>
        <a:srgbClr val="CFA04A"/>
      </a:folHlink>
    </a:clrScheme>
    <a:fontScheme name="AnkoraOn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AnkoraOne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AnkoraOne — Onboarding de novos clientes</dc:title>
  <dc:subject>PptxGenJS Presentation</dc:subject>
  <dc:creator>AnkoraOne</dc:creator>
  <cp:lastModifiedBy>AnkoraOne</cp:lastModifiedBy>
  <cp:revision>1</cp:revision>
  <dcterms:created xsi:type="dcterms:W3CDTF">2026-10-26T20:08:25Z</dcterms:created>
  <dcterms:modified xsi:type="dcterms:W3CDTF">2026-10-26T20:08:25Z</dcterms:modified>
</cp:coreProperties>
</file>