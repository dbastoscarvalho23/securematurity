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7799d756-8d4d-6123-205e-8b284313985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Navegar e trabalhar" id="{5965bf51-68b1-7bb9-8d5e-9bfe19719ba5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Guia por referencial" id="{9e1ca1e4-23cd-b549-267a-28c28de2b812}">
          <p14:sldIdLst>
            <p14:sldId id="269"/>
            <p14:sldId id="270"/>
            <p14:sldId id="271"/>
            <p14:sldId id="272"/>
            <p14:sldId id="273"/>
          </p14:sldIdLst>
        </p14:section>
        <p14:section name="Fecho" id="{836ef8ac-61ba-46e9-5de1-b1223c54bc9c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de arranque para novos clientes. Duração prevista: 30 a 40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70A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40080"/>
            <a:ext cx="2377440" cy="53949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F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AO">
    <p:bg>
      <p:bgPr>
        <a:solidFill>
          <a:srgbClr val="070A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6172200"/>
            <a:ext cx="1463040" cy="32918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CF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6291072"/>
            <a:ext cx="1188720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ONBOARDING DE NOVOS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Começar a trabalhar na AnkoraOne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Regime Jurídico da Cibersegurança (NIS2), ISO/IEC 27001 e ISO/IEC 42001: criação da conta, navegação, uso diário e guia por referencial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A04A"/>
                </a:solidFill>
              </a:rPr>
              <a:t>app.ankoraone.com  ·  versão 1.2  · 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conformidade da sua organização num só sítio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4"/>
                </a:solidFill>
              </a:rPr>
              <a:t>Tudo o que a plataforma pede vem dos textos oficiais: DL 125/2025, Regulamento do CNCS n.º 756/2026 e Diretiva NIS2.</a:t>
            </a:r>
            <a:endParaRPr lang="en-US" sz="1600" dirty="0"/>
          </a:p>
        </p:txBody>
      </p:sp>
      <p:sp>
        <p:nvSpPr>
          <p:cNvPr id="4" name="card-1"/>
          <p:cNvSpPr/>
          <p:nvPr/>
        </p:nvSpPr>
        <p:spPr>
          <a:xfrm>
            <a:off x="54864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2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con-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233537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Enquadramento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Qualificação e nível de conformidade, com a base legal de cada conclusão</a:t>
            </a:r>
            <a:endParaRPr lang="en-US" sz="1300" dirty="0"/>
          </a:p>
        </p:txBody>
      </p:sp>
      <p:sp>
        <p:nvSpPr>
          <p:cNvPr id="9" name="card-3"/>
          <p:cNvSpPr/>
          <p:nvPr/>
        </p:nvSpPr>
        <p:spPr>
          <a:xfrm>
            <a:off x="429768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icon-bg-4"/>
          <p:cNvSpPr/>
          <p:nvPr/>
        </p:nvSpPr>
        <p:spPr>
          <a:xfrm>
            <a:off x="457200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icon-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233537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Jornada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As tarefas que a lei pede, por ordem e com os prazos</a:t>
            </a:r>
            <a:endParaRPr lang="en-US" sz="1300" dirty="0"/>
          </a:p>
        </p:txBody>
      </p:sp>
      <p:sp>
        <p:nvSpPr>
          <p:cNvPr id="14" name="card-5"/>
          <p:cNvSpPr/>
          <p:nvPr/>
        </p:nvSpPr>
        <p:spPr>
          <a:xfrm>
            <a:off x="8046720" y="19202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icon-bg-6"/>
          <p:cNvSpPr/>
          <p:nvPr/>
        </p:nvSpPr>
        <p:spPr>
          <a:xfrm>
            <a:off x="8321040" y="219456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6" name="icon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2335378"/>
            <a:ext cx="358445" cy="35844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23042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Medidas mínimas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971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O que cumprir no seu nível e o que guardar como evidência</a:t>
            </a:r>
            <a:endParaRPr lang="en-US" sz="1300" dirty="0"/>
          </a:p>
        </p:txBody>
      </p:sp>
      <p:sp>
        <p:nvSpPr>
          <p:cNvPr id="19" name="card-7"/>
          <p:cNvSpPr/>
          <p:nvPr/>
        </p:nvSpPr>
        <p:spPr>
          <a:xfrm>
            <a:off x="54864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icon-bg-8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1" name="icon-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8" y="4438498"/>
            <a:ext cx="358445" cy="35844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Evidências e documentos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Ficheiros privados, versões, validade e aprovação assinada</a:t>
            </a:r>
            <a:endParaRPr lang="en-US" sz="1300" dirty="0"/>
          </a:p>
        </p:txBody>
      </p:sp>
      <p:sp>
        <p:nvSpPr>
          <p:cNvPr id="24" name="card-9"/>
          <p:cNvSpPr/>
          <p:nvPr/>
        </p:nvSpPr>
        <p:spPr>
          <a:xfrm>
            <a:off x="429768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icon-bg-10"/>
          <p:cNvSpPr/>
          <p:nvPr/>
        </p:nvSpPr>
        <p:spPr>
          <a:xfrm>
            <a:off x="457200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6" name="icon-1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2818" y="4438498"/>
            <a:ext cx="358445" cy="35844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4924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Maturidade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Avaliações por referencial e plano de ação com tarefas</a:t>
            </a:r>
            <a:endParaRPr lang="en-US" sz="1300" dirty="0"/>
          </a:p>
        </p:txBody>
      </p:sp>
      <p:sp>
        <p:nvSpPr>
          <p:cNvPr id="29" name="card-11"/>
          <p:cNvSpPr/>
          <p:nvPr/>
        </p:nvSpPr>
        <p:spPr>
          <a:xfrm>
            <a:off x="804672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0" name="icon-bg-12"/>
          <p:cNvSpPr/>
          <p:nvPr/>
        </p:nvSpPr>
        <p:spPr>
          <a:xfrm>
            <a:off x="8321040" y="4297680"/>
            <a:ext cx="640080" cy="6400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1" name="icon-1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1858" y="4438498"/>
            <a:ext cx="358445" cy="35844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98280" y="440740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Riscos e incidentes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74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Riscos, notificações ao CNCS, vulnerabilidades e fornecedores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Cinco passos até estar operacional</a:t>
            </a:r>
            <a:endParaRPr lang="en-US" sz="3200" dirty="0"/>
          </a:p>
        </p:txBody>
      </p:sp>
      <p:sp>
        <p:nvSpPr>
          <p:cNvPr id="3" name="timeline"/>
          <p:cNvSpPr/>
          <p:nvPr/>
        </p:nvSpPr>
        <p:spPr>
          <a:xfrm>
            <a:off x="1097280" y="2514600"/>
            <a:ext cx="9966960" cy="0"/>
          </a:xfrm>
          <a:prstGeom prst="line">
            <a:avLst/>
          </a:prstGeom>
          <a:noFill/>
          <a:ln w="25400">
            <a:solidFill>
              <a:srgbClr val="DDE2EA"/>
            </a:solidFill>
            <a:prstDash val="solid"/>
          </a:ln>
        </p:spPr>
      </p:sp>
      <p:sp>
        <p:nvSpPr>
          <p:cNvPr id="4" name="step-0"/>
          <p:cNvSpPr/>
          <p:nvPr/>
        </p:nvSpPr>
        <p:spPr>
          <a:xfrm>
            <a:off x="1097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Criar o cliente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Ficha, referenciais e repositório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383280" y="2148840"/>
            <a:ext cx="731520" cy="731520"/>
          </a:xfrm>
          <a:prstGeom prst="ellipse">
            <a:avLst/>
          </a:prstGeom>
          <a:solidFill>
            <a:srgbClr val="CFA0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0A13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Enquadramento no RJC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e cliente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Qualificação, nível, prazos e jornada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5669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Atribuir a licença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Core, PRO ou Enterprise</a:t>
            </a:r>
            <a:endParaRPr lang="en-US" sz="1300" dirty="0"/>
          </a:p>
        </p:txBody>
      </p:sp>
      <p:sp>
        <p:nvSpPr>
          <p:cNvPr id="19" name="step-3"/>
          <p:cNvSpPr/>
          <p:nvPr/>
        </p:nvSpPr>
        <p:spPr>
          <a:xfrm>
            <a:off x="7955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Convidar a equipa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ou admin. do cliente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Contas com o perfil certo</a:t>
            </a:r>
            <a:endParaRPr lang="en-US" sz="1300" dirty="0"/>
          </a:p>
        </p:txBody>
      </p:sp>
      <p:sp>
        <p:nvSpPr>
          <p:cNvPr id="24" name="step-4"/>
          <p:cNvSpPr/>
          <p:nvPr/>
        </p:nvSpPr>
        <p:spPr>
          <a:xfrm>
            <a:off x="10241280" y="2148840"/>
            <a:ext cx="731520" cy="73152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31546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Primeira avaliação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840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Consultor e cliente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4206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Ponto de partida e plano de ação</a:t>
            </a:r>
            <a:endParaRPr lang="en-US" sz="1300" dirty="0"/>
          </a:p>
        </p:txBody>
      </p:sp>
      <p:sp>
        <p:nvSpPr>
          <p:cNvPr id="29" name="card-13"/>
          <p:cNvSpPr/>
          <p:nvPr/>
        </p:nvSpPr>
        <p:spPr>
          <a:xfrm>
            <a:off x="548640" y="52120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Duração: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uma reunião de 30 a 45 minutos para os passos 1 a 3, com a informação preparada (manual, secção 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perfis, responsabilidades claras</a:t>
            </a:r>
            <a:endParaRPr lang="en-US" sz="3200" dirty="0"/>
          </a:p>
        </p:txBody>
      </p:sp>
      <p:sp>
        <p:nvSpPr>
          <p:cNvPr id="3" name="card-14"/>
          <p:cNvSpPr/>
          <p:nvPr/>
        </p:nvSpPr>
        <p:spPr>
          <a:xfrm>
            <a:off x="54864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icon-bg-15"/>
          <p:cNvSpPr/>
          <p:nvPr/>
        </p:nvSpPr>
        <p:spPr>
          <a:xfrm>
            <a:off x="868680" y="1783080"/>
            <a:ext cx="685800" cy="68580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5" name="icon-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93395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</a:rPr>
              <a:t>Consultor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Administrador da plataforma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Cria o cliente e a licença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Faz ou valida o enquadramento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Cria avaliações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Aceita ou rejeita evidências</a:t>
            </a:r>
            <a:endParaRPr lang="en-US" sz="1400" dirty="0"/>
          </a:p>
        </p:txBody>
      </p:sp>
      <p:sp>
        <p:nvSpPr>
          <p:cNvPr id="9" name="card-16"/>
          <p:cNvSpPr/>
          <p:nvPr/>
        </p:nvSpPr>
        <p:spPr>
          <a:xfrm>
            <a:off x="429768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icon-bg-17"/>
          <p:cNvSpPr/>
          <p:nvPr/>
        </p:nvSpPr>
        <p:spPr>
          <a:xfrm>
            <a:off x="4617720" y="1783080"/>
            <a:ext cx="685800" cy="68580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1" name="icon-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8596" y="19339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Administrador do cliente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A04A"/>
                </a:solidFill>
              </a:rPr>
              <a:t>Responsável de cibersegurança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Gere a jornada e as medidas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Aprova documentos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Convida utilizadores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Riscos, incidentes, fornecedores, IA</a:t>
            </a:r>
            <a:endParaRPr lang="en-US" sz="1400" dirty="0"/>
          </a:p>
        </p:txBody>
      </p:sp>
      <p:sp>
        <p:nvSpPr>
          <p:cNvPr id="15" name="card-18"/>
          <p:cNvSpPr/>
          <p:nvPr/>
        </p:nvSpPr>
        <p:spPr>
          <a:xfrm>
            <a:off x="8046720" y="1463040"/>
            <a:ext cx="3520440" cy="44805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icon-bg-19"/>
          <p:cNvSpPr/>
          <p:nvPr/>
        </p:nvSpPr>
        <p:spPr>
          <a:xfrm>
            <a:off x="8366760" y="1783080"/>
            <a:ext cx="685800" cy="68580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7" name="icon-1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7636" y="193395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6676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</a:rPr>
              <a:t>Utilizador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836676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Restante equipa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657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Consulta a jornada e a lei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Responde a avaliações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Trata as suas tarefas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Propõe documentos e evidências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enquadramento define o que tem de cumprir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Sete perguntas, por esta ordem</a:t>
            </a:r>
            <a:endParaRPr lang="en-US" sz="1600" dirty="0"/>
          </a:p>
        </p:txBody>
      </p:sp>
      <p:sp>
        <p:nvSpPr>
          <p:cNvPr id="4" name="q-0"/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8745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Atividade (Anexos I e II)</a:t>
            </a:r>
            <a:endParaRPr lang="en-US" sz="1500" dirty="0"/>
          </a:p>
        </p:txBody>
      </p:sp>
      <p:sp>
        <p:nvSpPr>
          <p:cNvPr id="7" name="q-1"/>
          <p:cNvSpPr/>
          <p:nvPr/>
        </p:nvSpPr>
        <p:spPr>
          <a:xfrm>
            <a:off x="548640" y="2441448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4414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Estabelecimento (art. 4.º)</a:t>
            </a:r>
            <a:endParaRPr lang="en-US" sz="1500" dirty="0"/>
          </a:p>
        </p:txBody>
      </p:sp>
      <p:sp>
        <p:nvSpPr>
          <p:cNvPr id="10" name="q-2"/>
          <p:cNvSpPr/>
          <p:nvPr/>
        </p:nvSpPr>
        <p:spPr>
          <a:xfrm>
            <a:off x="548640" y="3008376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83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Dimensão</a:t>
            </a:r>
            <a:endParaRPr lang="en-US" sz="1500" dirty="0"/>
          </a:p>
        </p:txBody>
      </p:sp>
      <p:sp>
        <p:nvSpPr>
          <p:cNvPr id="13" name="q-3"/>
          <p:cNvSpPr/>
          <p:nvPr/>
        </p:nvSpPr>
        <p:spPr>
          <a:xfrm>
            <a:off x="548640" y="3575304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5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753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Casos especiais</a:t>
            </a:r>
            <a:endParaRPr lang="en-US" sz="1500" dirty="0"/>
          </a:p>
        </p:txBody>
      </p:sp>
      <p:sp>
        <p:nvSpPr>
          <p:cNvPr id="16" name="q-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42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Entidade pública</a:t>
            </a:r>
            <a:endParaRPr lang="en-US" sz="1500" dirty="0"/>
          </a:p>
        </p:txBody>
      </p:sp>
      <p:sp>
        <p:nvSpPr>
          <p:cNvPr id="19" name="q-5"/>
          <p:cNvSpPr/>
          <p:nvPr/>
        </p:nvSpPr>
        <p:spPr>
          <a:xfrm>
            <a:off x="548640" y="4709160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7091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Prazos e decisões do CNCS</a:t>
            </a:r>
            <a:endParaRPr lang="en-US" sz="1500" dirty="0"/>
          </a:p>
        </p:txBody>
      </p:sp>
      <p:sp>
        <p:nvSpPr>
          <p:cNvPr id="22" name="q-6"/>
          <p:cNvSpPr/>
          <p:nvPr/>
        </p:nvSpPr>
        <p:spPr>
          <a:xfrm>
            <a:off x="548640" y="5276088"/>
            <a:ext cx="384048" cy="38404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FA04A"/>
                </a:solidFill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7608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</a:rPr>
              <a:t>Resultado com a base legal</a:t>
            </a:r>
            <a:endParaRPr lang="en-US" sz="1500" dirty="0"/>
          </a:p>
        </p:txBody>
      </p:sp>
      <p:sp>
        <p:nvSpPr>
          <p:cNvPr id="25" name="card-20"/>
          <p:cNvSpPr/>
          <p:nvPr/>
        </p:nvSpPr>
        <p:spPr>
          <a:xfrm>
            <a:off x="5486400" y="146304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1500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FA04A"/>
                </a:solidFill>
              </a:rPr>
              <a:t>Essencial ou importante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71500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Medidas do nível Básico, Substancial ou Elevado (cumulativas)</a:t>
            </a:r>
            <a:endParaRPr lang="en-US" sz="1300" dirty="0"/>
          </a:p>
        </p:txBody>
      </p:sp>
      <p:sp>
        <p:nvSpPr>
          <p:cNvPr id="28" name="card-21"/>
          <p:cNvSpPr/>
          <p:nvPr/>
        </p:nvSpPr>
        <p:spPr>
          <a:xfrm>
            <a:off x="8595360" y="146304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23960" y="1691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FA04A"/>
                </a:solidFill>
              </a:rPr>
              <a:t>Pública relevante A ou B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23960" y="22860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Medidas do Anexo IV; o Grupo A inclui o B</a:t>
            </a:r>
            <a:endParaRPr lang="en-US" sz="1300" dirty="0"/>
          </a:p>
        </p:txBody>
      </p:sp>
      <p:sp>
        <p:nvSpPr>
          <p:cNvPr id="31" name="card-22"/>
          <p:cNvSpPr/>
          <p:nvPr/>
        </p:nvSpPr>
        <p:spPr>
          <a:xfrm>
            <a:off x="5486400" y="333756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15000" y="3566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Não abrangida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Boas práticas, por exemplo ISO/IEC 27001</a:t>
            </a:r>
            <a:endParaRPr lang="en-US" sz="1300" dirty="0"/>
          </a:p>
        </p:txBody>
      </p:sp>
      <p:sp>
        <p:nvSpPr>
          <p:cNvPr id="34" name="card-23"/>
          <p:cNvSpPr/>
          <p:nvPr/>
        </p:nvSpPr>
        <p:spPr>
          <a:xfrm>
            <a:off x="8595360" y="3337560"/>
            <a:ext cx="2926080" cy="1691640"/>
          </a:xfrm>
          <a:prstGeom prst="roundRect">
            <a:avLst>
              <a:gd name="adj" fmla="val 64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3960" y="3566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Por determinar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23960" y="41605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Pontos em aberto a confirmar com o CNCS</a:t>
            </a:r>
            <a:endParaRPr lang="en-US" sz="1300" dirty="0"/>
          </a:p>
        </p:txBody>
      </p:sp>
      <p:sp>
        <p:nvSpPr>
          <p:cNvPr id="37" name="card-24"/>
          <p:cNvSpPr/>
          <p:nvPr/>
        </p:nvSpPr>
        <p:spPr>
          <a:xfrm>
            <a:off x="5486400" y="5303520"/>
            <a:ext cx="6035040" cy="685800"/>
          </a:xfrm>
          <a:prstGeom prst="roundRect">
            <a:avLst>
              <a:gd name="adj" fmla="val 160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15000" y="5376672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766C"/>
                </a:solidFill>
              </a:rPr>
              <a:t>Ao confirmar: jornada criada, secção A atualizada e relatório de enquadramento guardado em PDF como evidência.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licença escolhe os módulos disponíveis</a:t>
            </a:r>
            <a:endParaRPr lang="en-US" sz="3200" dirty="0"/>
          </a:p>
        </p:txBody>
      </p:sp>
      <p:sp>
        <p:nvSpPr>
          <p:cNvPr id="3" name="card-25"/>
          <p:cNvSpPr/>
          <p:nvPr/>
        </p:nvSpPr>
        <p:spPr>
          <a:xfrm>
            <a:off x="54864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70A13"/>
                </a:solidFill>
              </a:rPr>
              <a:t>Core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Jornada de Conformidade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Avaliações e Plano de 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Documentos e Evidências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Biblioteca Legal e Guia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Risco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Relatórios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Ativos e Ferramentas</a:t>
            </a:r>
            <a:endParaRPr lang="en-US" sz="1400" dirty="0"/>
          </a:p>
        </p:txBody>
      </p:sp>
      <p:sp>
        <p:nvSpPr>
          <p:cNvPr id="6" name="card-26"/>
          <p:cNvSpPr/>
          <p:nvPr/>
        </p:nvSpPr>
        <p:spPr>
          <a:xfrm>
            <a:off x="429768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70A13"/>
                </a:solidFill>
              </a:rPr>
              <a:t>PRO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Tudo o que está no Core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Incidentes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Gestão de Fornecedores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Alertas de vulnerabilidades (CVE)</a:t>
            </a:r>
            <a:endParaRPr lang="en-US" sz="1400" dirty="0"/>
          </a:p>
        </p:txBody>
      </p:sp>
      <p:sp>
        <p:nvSpPr>
          <p:cNvPr id="9" name="card-27"/>
          <p:cNvSpPr/>
          <p:nvPr/>
        </p:nvSpPr>
        <p:spPr>
          <a:xfrm>
            <a:off x="8046720" y="146304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6676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FA04A"/>
                </a:solidFill>
              </a:rPr>
              <a:t>Enterprise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66760" y="2468880"/>
            <a:ext cx="2971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Tudo o que está no PRO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Assistente de IA, com quota mensal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9EF"/>
                </a:solidFill>
              </a:rPr>
              <a:t>Privacidade (quando disponível)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A licença define também os referenciais (NIS2, QNRCS, ISO/IEC 27001, ISO/IEC 42001, DORA…) e o número de utilizadores (mínimo de 5). O menu só mostra o que está incluído.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PARTE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Navegar e trabalhar no dia a dia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Entrar, o menu, a jornada, as medidas, as evidências e as avaliações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menu segue a ordem do trabalho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4"/>
                </a:solidFill>
              </a:rPr>
              <a:t>Entrar em app.ankoraone.com com Google, Microsoft ou email. Só aparecem os itens da licença e do perfil.</a:t>
            </a:r>
            <a:endParaRPr lang="en-US" sz="1600" dirty="0"/>
          </a:p>
        </p:txBody>
      </p:sp>
      <p:sp>
        <p:nvSpPr>
          <p:cNvPr id="4" name="card-28"/>
          <p:cNvSpPr/>
          <p:nvPr/>
        </p:nvSpPr>
        <p:spPr>
          <a:xfrm>
            <a:off x="54864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29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6" name="icon-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227959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Visão geral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Painel</a:t>
            </a:r>
            <a:endParaRPr lang="en-US" sz="1300" dirty="0"/>
          </a:p>
        </p:txBody>
      </p:sp>
      <p:sp>
        <p:nvSpPr>
          <p:cNvPr id="9" name="card-30"/>
          <p:cNvSpPr/>
          <p:nvPr/>
        </p:nvSpPr>
        <p:spPr>
          <a:xfrm>
            <a:off x="278892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icon-bg-31"/>
          <p:cNvSpPr/>
          <p:nvPr/>
        </p:nvSpPr>
        <p:spPr>
          <a:xfrm>
            <a:off x="3063240" y="2148840"/>
            <a:ext cx="594360" cy="59436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1" name="icon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227959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6324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Avaliar e comprovar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06324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Jornada · Avaliações · Evidências · Biblioteca Legal · Guia · Ativos</a:t>
            </a:r>
            <a:endParaRPr lang="en-US" sz="1300" dirty="0"/>
          </a:p>
        </p:txBody>
      </p:sp>
      <p:sp>
        <p:nvSpPr>
          <p:cNvPr id="14" name="card-32"/>
          <p:cNvSpPr/>
          <p:nvPr/>
        </p:nvSpPr>
        <p:spPr>
          <a:xfrm>
            <a:off x="502920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icon-bg-33"/>
          <p:cNvSpPr/>
          <p:nvPr/>
        </p:nvSpPr>
        <p:spPr>
          <a:xfrm>
            <a:off x="530352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6" name="icon-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279" y="227959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0352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Melhorar e gerir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30352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Plano de Ação · Recomendações · Tarefas · Riscos · Incidentes · Vulnerabilidades</a:t>
            </a:r>
            <a:endParaRPr lang="en-US" sz="1300" dirty="0"/>
          </a:p>
        </p:txBody>
      </p:sp>
      <p:sp>
        <p:nvSpPr>
          <p:cNvPr id="19" name="card-34"/>
          <p:cNvSpPr/>
          <p:nvPr/>
        </p:nvSpPr>
        <p:spPr>
          <a:xfrm>
            <a:off x="726948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icon-bg-35"/>
          <p:cNvSpPr/>
          <p:nvPr/>
        </p:nvSpPr>
        <p:spPr>
          <a:xfrm>
            <a:off x="754380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1" name="icon-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559" y="22795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4380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Governar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54380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Documentos · Repositório documental · Auditoria · Cadeia de Abastecimento · Fornecedores</a:t>
            </a:r>
            <a:endParaRPr lang="en-US" sz="1300" dirty="0"/>
          </a:p>
        </p:txBody>
      </p:sp>
      <p:sp>
        <p:nvSpPr>
          <p:cNvPr id="24" name="card-36"/>
          <p:cNvSpPr/>
          <p:nvPr/>
        </p:nvSpPr>
        <p:spPr>
          <a:xfrm>
            <a:off x="9509760" y="1874520"/>
            <a:ext cx="2057400" cy="3977640"/>
          </a:xfrm>
          <a:prstGeom prst="roundRect">
            <a:avLst>
              <a:gd name="adj" fmla="val 5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icon-bg-37"/>
          <p:cNvSpPr/>
          <p:nvPr/>
        </p:nvSpPr>
        <p:spPr>
          <a:xfrm>
            <a:off x="9784080" y="2148840"/>
            <a:ext cx="594360" cy="59436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6" name="icon-3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4839" y="227959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84080" y="292608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Analisar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9784080" y="370332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Relatórios e relatório anual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94360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Sistema: Relatório de Emails e Definições (perfil, utilizadores, lembretes, repositório, tema e língua).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organiza a lei em oito secções</a:t>
            </a:r>
            <a:endParaRPr lang="en-US" sz="3200" dirty="0"/>
          </a:p>
        </p:txBody>
      </p:sp>
      <p:sp>
        <p:nvSpPr>
          <p:cNvPr id="3" name="card-38"/>
          <p:cNvSpPr/>
          <p:nvPr/>
        </p:nvSpPr>
        <p:spPr>
          <a:xfrm>
            <a:off x="54864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sec-A"/>
          <p:cNvSpPr/>
          <p:nvPr/>
        </p:nvSpPr>
        <p:spPr>
          <a:xfrm>
            <a:off x="74980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Âmbito e qualificação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7 tarefas</a:t>
            </a:r>
            <a:endParaRPr lang="en-US" sz="1200" dirty="0"/>
          </a:p>
        </p:txBody>
      </p:sp>
      <p:sp>
        <p:nvSpPr>
          <p:cNvPr id="8" name="card-39"/>
          <p:cNvSpPr/>
          <p:nvPr/>
        </p:nvSpPr>
        <p:spPr>
          <a:xfrm>
            <a:off x="333756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sec-B"/>
          <p:cNvSpPr/>
          <p:nvPr/>
        </p:nvSpPr>
        <p:spPr>
          <a:xfrm>
            <a:off x="353872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3872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Governação e responsáveis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5196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13" name="card-40"/>
          <p:cNvSpPr/>
          <p:nvPr/>
        </p:nvSpPr>
        <p:spPr>
          <a:xfrm>
            <a:off x="612648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sec-C"/>
          <p:cNvSpPr/>
          <p:nvPr/>
        </p:nvSpPr>
        <p:spPr>
          <a:xfrm>
            <a:off x="632764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2764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C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Gestão dos riscos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18" name="card-41"/>
          <p:cNvSpPr/>
          <p:nvPr/>
        </p:nvSpPr>
        <p:spPr>
          <a:xfrm>
            <a:off x="8915400" y="141732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sec-D"/>
          <p:cNvSpPr/>
          <p:nvPr/>
        </p:nvSpPr>
        <p:spPr>
          <a:xfrm>
            <a:off x="9116568" y="169164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1656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D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29800" y="164592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Medidas de cibersegurança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29800" y="233172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23" name="card-42"/>
          <p:cNvSpPr/>
          <p:nvPr/>
        </p:nvSpPr>
        <p:spPr>
          <a:xfrm>
            <a:off x="54864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sec-E"/>
          <p:cNvSpPr/>
          <p:nvPr/>
        </p:nvSpPr>
        <p:spPr>
          <a:xfrm>
            <a:off x="74980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Cadeia de abastecimento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28" name="card-43"/>
          <p:cNvSpPr/>
          <p:nvPr/>
        </p:nvSpPr>
        <p:spPr>
          <a:xfrm>
            <a:off x="333756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sec-F"/>
          <p:cNvSpPr/>
          <p:nvPr/>
        </p:nvSpPr>
        <p:spPr>
          <a:xfrm>
            <a:off x="353872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3872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F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425196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Incidentes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5 tarefas</a:t>
            </a:r>
            <a:endParaRPr lang="en-US" sz="1200" dirty="0"/>
          </a:p>
        </p:txBody>
      </p:sp>
      <p:sp>
        <p:nvSpPr>
          <p:cNvPr id="33" name="card-44"/>
          <p:cNvSpPr/>
          <p:nvPr/>
        </p:nvSpPr>
        <p:spPr>
          <a:xfrm>
            <a:off x="612648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sec-G"/>
          <p:cNvSpPr/>
          <p:nvPr/>
        </p:nvSpPr>
        <p:spPr>
          <a:xfrm>
            <a:off x="632764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2764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G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704088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Formação e sensibilização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04088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3 tarefas</a:t>
            </a:r>
            <a:endParaRPr lang="en-US" sz="1200" dirty="0"/>
          </a:p>
        </p:txBody>
      </p:sp>
      <p:sp>
        <p:nvSpPr>
          <p:cNvPr id="38" name="card-45"/>
          <p:cNvSpPr/>
          <p:nvPr/>
        </p:nvSpPr>
        <p:spPr>
          <a:xfrm>
            <a:off x="8915400" y="292608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sec-H"/>
          <p:cNvSpPr/>
          <p:nvPr/>
        </p:nvSpPr>
        <p:spPr>
          <a:xfrm>
            <a:off x="9116568" y="3200400"/>
            <a:ext cx="566928" cy="566928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16568" y="3200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FA04A"/>
                </a:solidFill>
              </a:rPr>
              <a:t>H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9829800" y="31546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Relatórios e supervisão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829800" y="38404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4 tarefas</a:t>
            </a:r>
            <a:endParaRPr lang="en-US" sz="1200" dirty="0"/>
          </a:p>
        </p:txBody>
      </p:sp>
      <p:sp>
        <p:nvSpPr>
          <p:cNvPr id="43" name="card-46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exemplo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620"/>
                </a:solidFill>
              </a:rPr>
              <a:t>EXEMPLO DE TAREFA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0292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Nomear o responsável de cibersegurança e comunicá-lo em 20 dias úteis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22960" y="54864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RJC, art. 31.º, n.os 1, 3 e 4; Reg. 756/2026, art. 14.º    ·    estado, responsável, data-alvo, notas e evidências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Cada medida diz o que guardar como evidência</a:t>
            </a:r>
            <a:endParaRPr lang="en-US" sz="3200" dirty="0"/>
          </a:p>
        </p:txBody>
      </p:sp>
      <p:sp>
        <p:nvSpPr>
          <p:cNvPr id="3" name="medida"/>
          <p:cNvSpPr/>
          <p:nvPr/>
        </p:nvSpPr>
        <p:spPr>
          <a:xfrm>
            <a:off x="548640" y="1417320"/>
            <a:ext cx="57607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DE2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6620"/>
                </a:solidFill>
              </a:rPr>
              <a:t>GR.CO-1   ·   nível Substancial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</a:rPr>
              <a:t>A missão, visão, estratégia de gestão dos riscos e objetivos da entidade são definidos e comunicados.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766C"/>
                </a:solidFill>
              </a:rPr>
              <a:t>O que guardar como evidência: 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</a:rPr>
              <a:t>Registo documentado da missão, visão, estratégia de gestão do risco e objetivos no âmbito da cibersegurança e respetivas prioridades.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Reg. 756/2026, Anexo III — GR.CO-1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474"/>
                </a:solidFill>
              </a:rPr>
              <a:t>Exemplo real da Biblioteca Legal › Conformidade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Ciclo de vida de uma evidência</a:t>
            </a:r>
            <a:endParaRPr lang="en-US" sz="1600" dirty="0"/>
          </a:p>
        </p:txBody>
      </p:sp>
      <p:sp>
        <p:nvSpPr>
          <p:cNvPr id="10" name="card-47"/>
          <p:cNvSpPr/>
          <p:nvPr/>
        </p:nvSpPr>
        <p:spPr>
          <a:xfrm>
            <a:off x="6766560" y="192024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Por rever</a:t>
            </a:r>
            <a:endParaRPr lang="en-US" sz="1400" dirty="0"/>
          </a:p>
        </p:txBody>
      </p:sp>
      <p:sp>
        <p:nvSpPr>
          <p:cNvPr id="12" name="card-48"/>
          <p:cNvSpPr/>
          <p:nvPr/>
        </p:nvSpPr>
        <p:spPr>
          <a:xfrm>
            <a:off x="6766560" y="2633472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26A699"/>
          </a:solidFill>
          <a:ln w="12700">
            <a:solidFill>
              <a:srgbClr val="26A69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Aceite e válida</a:t>
            </a:r>
            <a:endParaRPr lang="en-US" sz="1400" dirty="0"/>
          </a:p>
        </p:txBody>
      </p:sp>
      <p:sp>
        <p:nvSpPr>
          <p:cNvPr id="14" name="card-49"/>
          <p:cNvSpPr/>
          <p:nvPr/>
        </p:nvSpPr>
        <p:spPr>
          <a:xfrm>
            <a:off x="6766560" y="3346704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Expirada</a:t>
            </a:r>
            <a:endParaRPr lang="en-US" sz="1400" dirty="0"/>
          </a:p>
        </p:txBody>
      </p:sp>
      <p:sp>
        <p:nvSpPr>
          <p:cNvPr id="16" name="card-50"/>
          <p:cNvSpPr/>
          <p:nvPr/>
        </p:nvSpPr>
        <p:spPr>
          <a:xfrm>
            <a:off x="6766560" y="4059936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</a:rPr>
              <a:t>Substituída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1920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Carregada; o consultor revê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26334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Cumpre o critério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33467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Passou a data de validade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405993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Há uma versão nova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846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Regras: </a:t>
            </a:r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</a:rPr>
              <a:t>ficheiros até 8 MB, nunca públicos; cada abertura fica registada; evidências de ativos são restritas.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Carregue o que já tem: a plataforma propõe onde pertence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4"/>
                </a:solidFill>
              </a:rPr>
              <a:t>Governar › Repositório documental: todos os ficheiros do cliente nas mesmas 13 pastas, no repositório escolhido (plataforma, Google Drive, OneDrive ou NAS).</a:t>
            </a:r>
            <a:endParaRPr lang="en-US" sz="1500" dirty="0"/>
          </a:p>
        </p:txBody>
      </p:sp>
      <p:sp>
        <p:nvSpPr>
          <p:cNvPr id="4" name="card-51"/>
          <p:cNvSpPr/>
          <p:nvPr/>
        </p:nvSpPr>
        <p:spPr>
          <a:xfrm>
            <a:off x="54864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icon-bg-52"/>
          <p:cNvSpPr/>
          <p:nvPr/>
        </p:nvSpPr>
        <p:spPr>
          <a:xfrm>
            <a:off x="77724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6" name="icon-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2243938"/>
            <a:ext cx="358445" cy="35844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Carregar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Na área Por classificar, ou diretamente na pasta «00 Por classificar» e Procurar na pasta</a:t>
            </a:r>
            <a:endParaRPr lang="en-US" sz="1300" dirty="0"/>
          </a:p>
        </p:txBody>
      </p:sp>
      <p:sp>
        <p:nvSpPr>
          <p:cNvPr id="9" name="seta-rep-0"/>
          <p:cNvSpPr/>
          <p:nvPr/>
        </p:nvSpPr>
        <p:spPr>
          <a:xfrm>
            <a:off x="318211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0" name="card-53"/>
          <p:cNvSpPr/>
          <p:nvPr/>
        </p:nvSpPr>
        <p:spPr>
          <a:xfrm>
            <a:off x="333756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icon-bg-54"/>
          <p:cNvSpPr/>
          <p:nvPr/>
        </p:nvSpPr>
        <p:spPr>
          <a:xfrm>
            <a:off x="356616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12" name="icon-5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978" y="2243938"/>
            <a:ext cx="358445" cy="35844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Pré-selecionar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Sem IA: medidas, tarefas e controlos ISO com texto parecido</a:t>
            </a:r>
            <a:endParaRPr lang="en-US" sz="1300" dirty="0"/>
          </a:p>
        </p:txBody>
      </p:sp>
      <p:sp>
        <p:nvSpPr>
          <p:cNvPr id="15" name="seta-rep-1"/>
          <p:cNvSpPr/>
          <p:nvPr/>
        </p:nvSpPr>
        <p:spPr>
          <a:xfrm>
            <a:off x="597103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6" name="card-55"/>
          <p:cNvSpPr/>
          <p:nvPr/>
        </p:nvSpPr>
        <p:spPr>
          <a:xfrm>
            <a:off x="612648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7" name="icon-bg-56"/>
          <p:cNvSpPr/>
          <p:nvPr/>
        </p:nvSpPr>
        <p:spPr>
          <a:xfrm>
            <a:off x="6355080" y="2103120"/>
            <a:ext cx="640080" cy="640080"/>
          </a:xfrm>
          <a:prstGeom prst="ellipse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pic>
        <p:nvPicPr>
          <p:cNvPr id="18" name="icon-5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8" y="2243938"/>
            <a:ext cx="358445" cy="35844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Classificar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9EF"/>
                </a:solidFill>
              </a:rPr>
              <a:t>A IA propõe o tipo e até 8 ligações, cada uma com excerto e confiança; até 25 de cada vez</a:t>
            </a:r>
            <a:endParaRPr lang="en-US" sz="1300" dirty="0"/>
          </a:p>
        </p:txBody>
      </p:sp>
      <p:sp>
        <p:nvSpPr>
          <p:cNvPr id="21" name="seta-rep-2"/>
          <p:cNvSpPr/>
          <p:nvPr/>
        </p:nvSpPr>
        <p:spPr>
          <a:xfrm>
            <a:off x="8759952" y="310896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22" name="card-57"/>
          <p:cNvSpPr/>
          <p:nvPr/>
        </p:nvSpPr>
        <p:spPr>
          <a:xfrm>
            <a:off x="8915400" y="1874520"/>
            <a:ext cx="2606040" cy="2423160"/>
          </a:xfrm>
          <a:prstGeom prst="roundRect">
            <a:avLst>
              <a:gd name="adj" fmla="val 452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icon-bg-58"/>
          <p:cNvSpPr/>
          <p:nvPr/>
        </p:nvSpPr>
        <p:spPr>
          <a:xfrm>
            <a:off x="9144000" y="2103120"/>
            <a:ext cx="640080" cy="640080"/>
          </a:xfrm>
          <a:prstGeom prst="ellipse">
            <a:avLst/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pic>
        <p:nvPicPr>
          <p:cNvPr id="24" name="icon-5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4818" y="2243938"/>
            <a:ext cx="358445" cy="35844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Rever e indexar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914400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Uma pessoa confirma; nasce uma evidência Por rever; nada muda de estado sozinho</a:t>
            </a:r>
            <a:endParaRPr lang="en-US" sz="1300" dirty="0"/>
          </a:p>
        </p:txBody>
      </p:sp>
      <p:sp>
        <p:nvSpPr>
          <p:cNvPr id="27" name="card-59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2960" y="4709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766C"/>
                </a:solidFill>
              </a:rPr>
              <a:t>Qualidade das propostas: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quantas ligações propostas as pessoas mantêm, por nível de confiança. Documentos com endereços de ativos expostos à Internet nunca seguem para a 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Avaliar a maturidade de 0 a 5 e transformar lacunas em tarefas</a:t>
            </a:r>
            <a:endParaRPr lang="en-US" sz="3200" dirty="0"/>
          </a:p>
        </p:txBody>
      </p:sp>
      <p:sp>
        <p:nvSpPr>
          <p:cNvPr id="3" name="card-60"/>
          <p:cNvSpPr/>
          <p:nvPr/>
        </p:nvSpPr>
        <p:spPr>
          <a:xfrm>
            <a:off x="548640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E9EDF2"/>
          </a:solidFill>
          <a:ln w="12700">
            <a:solidFill>
              <a:srgbClr val="E9ED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Inexistente</a:t>
            </a:r>
            <a:endParaRPr lang="en-US" sz="1300" dirty="0"/>
          </a:p>
        </p:txBody>
      </p:sp>
      <p:sp>
        <p:nvSpPr>
          <p:cNvPr id="6" name="card-61"/>
          <p:cNvSpPr/>
          <p:nvPr/>
        </p:nvSpPr>
        <p:spPr>
          <a:xfrm>
            <a:off x="2404872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DCE2EA"/>
          </a:solidFill>
          <a:ln w="12700">
            <a:solidFill>
              <a:srgbClr val="DCE2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04872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1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496312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Inicial</a:t>
            </a:r>
            <a:endParaRPr lang="en-US" sz="1300" dirty="0"/>
          </a:p>
        </p:txBody>
      </p:sp>
      <p:sp>
        <p:nvSpPr>
          <p:cNvPr id="9" name="card-62"/>
          <p:cNvSpPr/>
          <p:nvPr/>
        </p:nvSpPr>
        <p:spPr>
          <a:xfrm>
            <a:off x="4261104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C6CFDB"/>
          </a:solidFill>
          <a:ln w="12700">
            <a:solidFill>
              <a:srgbClr val="C6CF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61104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352544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Em desenvolvimento</a:t>
            </a:r>
            <a:endParaRPr lang="en-US" sz="1300" dirty="0"/>
          </a:p>
        </p:txBody>
      </p:sp>
      <p:sp>
        <p:nvSpPr>
          <p:cNvPr id="12" name="card-63"/>
          <p:cNvSpPr/>
          <p:nvPr/>
        </p:nvSpPr>
        <p:spPr>
          <a:xfrm>
            <a:off x="6117336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9AA7BA"/>
          </a:solidFill>
          <a:ln w="12700">
            <a:solidFill>
              <a:srgbClr val="9AA7B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17336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208776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Definido</a:t>
            </a:r>
            <a:endParaRPr lang="en-US" sz="1300" dirty="0"/>
          </a:p>
        </p:txBody>
      </p:sp>
      <p:sp>
        <p:nvSpPr>
          <p:cNvPr id="15" name="card-64"/>
          <p:cNvSpPr/>
          <p:nvPr/>
        </p:nvSpPr>
        <p:spPr>
          <a:xfrm>
            <a:off x="7973568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73568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0A13"/>
                </a:solidFill>
              </a:rPr>
              <a:t>4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065008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</a:rPr>
              <a:t>Gerido</a:t>
            </a:r>
            <a:endParaRPr lang="en-US" sz="1300" dirty="0"/>
          </a:p>
        </p:txBody>
      </p:sp>
      <p:sp>
        <p:nvSpPr>
          <p:cNvPr id="18" name="card-65"/>
          <p:cNvSpPr/>
          <p:nvPr/>
        </p:nvSpPr>
        <p:spPr>
          <a:xfrm>
            <a:off x="9829800" y="1508760"/>
            <a:ext cx="1737360" cy="1417320"/>
          </a:xfrm>
          <a:prstGeom prst="roundRect">
            <a:avLst>
              <a:gd name="adj" fmla="val 7742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829800" y="1600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FA04A"/>
                </a:solidFill>
              </a:rPr>
              <a:t>5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9921240" y="23317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Otimizado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A6620"/>
                </a:solidFill>
              </a:rPr>
              <a:t>Nível-alvo por omissão: 4 (Gerido)</a:t>
            </a:r>
            <a:endParaRPr lang="en-US" sz="1200" dirty="0"/>
          </a:p>
        </p:txBody>
      </p:sp>
      <p:sp>
        <p:nvSpPr>
          <p:cNvPr id="22" name="card-66"/>
          <p:cNvSpPr/>
          <p:nvPr/>
        </p:nvSpPr>
        <p:spPr>
          <a:xfrm>
            <a:off x="54864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O consultor cria-a com os referenciais (ex.: NIS2 e ISO/IEC 27001)</a:t>
            </a:r>
            <a:endParaRPr lang="en-US" sz="1300" dirty="0"/>
          </a:p>
        </p:txBody>
      </p:sp>
      <p:sp>
        <p:nvSpPr>
          <p:cNvPr id="25" name="seta-0"/>
          <p:cNvSpPr/>
          <p:nvPr/>
        </p:nvSpPr>
        <p:spPr>
          <a:xfrm>
            <a:off x="318211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26" name="card-67"/>
          <p:cNvSpPr/>
          <p:nvPr/>
        </p:nvSpPr>
        <p:spPr>
          <a:xfrm>
            <a:off x="333756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6616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Respostas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A equipa responde e liga evidências a cada pergunta</a:t>
            </a:r>
            <a:endParaRPr lang="en-US" sz="1300" dirty="0"/>
          </a:p>
        </p:txBody>
      </p:sp>
      <p:sp>
        <p:nvSpPr>
          <p:cNvPr id="29" name="seta-1"/>
          <p:cNvSpPr/>
          <p:nvPr/>
        </p:nvSpPr>
        <p:spPr>
          <a:xfrm>
            <a:off x="597103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30" name="card-68"/>
          <p:cNvSpPr/>
          <p:nvPr/>
        </p:nvSpPr>
        <p:spPr>
          <a:xfrm>
            <a:off x="612648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5508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70A13"/>
                </a:solidFill>
              </a:rPr>
              <a:t>Pontuação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635508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Por domínio, por referencial e global</a:t>
            </a:r>
            <a:endParaRPr lang="en-US" sz="1300" dirty="0"/>
          </a:p>
        </p:txBody>
      </p:sp>
      <p:sp>
        <p:nvSpPr>
          <p:cNvPr id="33" name="seta-2"/>
          <p:cNvSpPr/>
          <p:nvPr/>
        </p:nvSpPr>
        <p:spPr>
          <a:xfrm>
            <a:off x="8759952" y="4526280"/>
            <a:ext cx="128016" cy="320040"/>
          </a:xfrm>
          <a:prstGeom prst="chevron">
            <a:avLst/>
          </a:prstGeom>
          <a:solidFill>
            <a:srgbClr val="CFA04A"/>
          </a:solidFill>
          <a:ln w="12700">
            <a:solidFill>
              <a:srgbClr val="CFA04A"/>
            </a:solidFill>
            <a:prstDash val="solid"/>
          </a:ln>
        </p:spPr>
      </p:sp>
      <p:sp>
        <p:nvSpPr>
          <p:cNvPr id="34" name="card-69"/>
          <p:cNvSpPr/>
          <p:nvPr/>
        </p:nvSpPr>
        <p:spPr>
          <a:xfrm>
            <a:off x="8915400" y="36576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4400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66C"/>
                </a:solidFill>
              </a:rPr>
              <a:t>Plano de ação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3434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Recomendações com prioridade, esforço e prazo, que viram tarefas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assistente de IA prepara rascunhos, não decide</a:t>
            </a:r>
            <a:endParaRPr lang="en-US" sz="3200" dirty="0"/>
          </a:p>
        </p:txBody>
      </p:sp>
      <p:sp>
        <p:nvSpPr>
          <p:cNvPr id="3" name="icon-bg-70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4" name="icon-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574" y="1578254"/>
            <a:ext cx="409651" cy="40965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5087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</a:rPr>
              <a:t>Ativo só onde há documentos para construir ou analisar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37744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Políticas, procedimentos e planos de evidências por medida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Análise de evidências face ao critério oficial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Classificação de documentos carregados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Notificações de incidentes e relatório anual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Questionários a fornecedores e leitura de respostas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</a:rPr>
              <a:t>Recomendações para o plano de ação</a:t>
            </a:r>
            <a:endParaRPr lang="en-US" sz="1500" dirty="0"/>
          </a:p>
        </p:txBody>
      </p:sp>
      <p:sp>
        <p:nvSpPr>
          <p:cNvPr id="7" name="card-71"/>
          <p:cNvSpPr/>
          <p:nvPr/>
        </p:nvSpPr>
        <p:spPr>
          <a:xfrm>
            <a:off x="6583680" y="1417320"/>
            <a:ext cx="5029200" cy="4526280"/>
          </a:xfrm>
          <a:prstGeom prst="roundRect">
            <a:avLst>
              <a:gd name="adj" fmla="val 2424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0372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FA04A"/>
                </a:solidFill>
              </a:rPr>
              <a:t>REGRAS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Usa só os textos oficiais da Biblioteca Legal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O resultado é sempre um rascunho a aprovar por uma pessoa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Não recebe contactos, inventário de ativos nem evidências restritas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Cada pedido fica na auditoria e conta para a quota (máximo de 30 por minuto)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6E9EF"/>
                </a:solidFill>
              </a:rPr>
              <a:t>Motor escolhido pelo administrador: Claude ou Base44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Incluído na licença Enterprise.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PARTE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Guia por referencial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3931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RJC e NIS2, ISO/IEC 27001, ISO/IEC 42001 e os restantes referenciais (com um guia de implementação para cada um dos três primeiros)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31520" y="626364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892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RJC e NIS2: os prazos que não podem falhar</a:t>
            </a:r>
            <a:endParaRPr lang="en-US" sz="3200" dirty="0"/>
          </a:p>
        </p:txBody>
      </p:sp>
      <p:sp>
        <p:nvSpPr>
          <p:cNvPr id="3" name="card-72"/>
          <p:cNvSpPr/>
          <p:nvPr/>
        </p:nvSpPr>
        <p:spPr>
          <a:xfrm>
            <a:off x="54864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CFA04A"/>
                </a:solidFill>
              </a:rPr>
              <a:t>24 h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Notificação inicial de incidente significativo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CFDA"/>
                </a:solidFill>
              </a:rPr>
              <a:t>RJC, arts. 41.º e 42.º</a:t>
            </a:r>
            <a:endParaRPr lang="en-US" sz="1100" dirty="0"/>
          </a:p>
        </p:txBody>
      </p:sp>
      <p:sp>
        <p:nvSpPr>
          <p:cNvPr id="7" name="card-73"/>
          <p:cNvSpPr/>
          <p:nvPr/>
        </p:nvSpPr>
        <p:spPr>
          <a:xfrm>
            <a:off x="333756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72 h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Atualização da notificação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art. 42.º</a:t>
            </a:r>
            <a:endParaRPr lang="en-US" sz="1100" dirty="0"/>
          </a:p>
        </p:txBody>
      </p:sp>
      <p:sp>
        <p:nvSpPr>
          <p:cNvPr id="11" name="card-74"/>
          <p:cNvSpPr/>
          <p:nvPr/>
        </p:nvSpPr>
        <p:spPr>
          <a:xfrm>
            <a:off x="612648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30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dias úteis para o relatório final do incidente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art. 44.º</a:t>
            </a:r>
            <a:endParaRPr lang="en-US" sz="1100" dirty="0"/>
          </a:p>
        </p:txBody>
      </p:sp>
      <p:sp>
        <p:nvSpPr>
          <p:cNvPr id="15" name="card-75"/>
          <p:cNvSpPr/>
          <p:nvPr/>
        </p:nvSpPr>
        <p:spPr>
          <a:xfrm>
            <a:off x="8915400" y="1417320"/>
            <a:ext cx="2606040" cy="2514600"/>
          </a:xfrm>
          <a:prstGeom prst="roundRect">
            <a:avLst>
              <a:gd name="adj" fmla="val 436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0" y="1554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70A13"/>
                </a:solidFill>
              </a:rPr>
              <a:t>20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dias úteis para nomear o responsável e o ponto de contacto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4"/>
                </a:solidFill>
              </a:rPr>
              <a:t>RJC, arts. 31.º e 32.º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A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0A1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Autoidentificação no CNCS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dias após iniciar atividade; 60 dias após a plataforma do CNCS, se já em atividade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de ativos acessíveis pela Internet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31 de janeiro do ano seguinte à qualificação ou em 6 meses; depois, anual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Relatório anual (essenciais)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dia útil de janeiro; o primeiro em janeiro de 2029, relativo a 2028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48640" y="589788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6620"/>
                </a:solidFill>
              </a:rPr>
              <a:t>Em vigor desde 3 de abril de 2026 (DL 125/2025). Arts. 27.º, n.os 1 e 2, 28.º a 30.º e 33.º do RJC: efeitos a 22 de junho de 2028.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ISO/IEC 27001: um guia com Declaração de Aplicabilidade</a:t>
            </a:r>
            <a:endParaRPr lang="en-US" sz="3200" dirty="0"/>
          </a:p>
        </p:txBody>
      </p:sp>
      <p:sp>
        <p:nvSpPr>
          <p:cNvPr id="3" name="card-76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620"/>
                </a:solidFill>
              </a:rPr>
              <a:t>Guia de preparação: </a:t>
            </a:r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textos da AnkoraOne, estrutura conferida com o texto oficial (outubro de 2026); a norma não está reproduzida. Para certificação: texto oficial e entidade acreditada.</a:t>
            </a:r>
            <a:endParaRPr lang="en-US" sz="1400" dirty="0"/>
          </a:p>
        </p:txBody>
      </p:sp>
      <p:sp>
        <p:nvSpPr>
          <p:cNvPr id="5" name="card-77"/>
          <p:cNvSpPr/>
          <p:nvPr/>
        </p:nvSpPr>
        <p:spPr>
          <a:xfrm>
            <a:off x="548640" y="22860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9572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25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4231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requisitos do sistema de gestão (cláusulas 4 a 10)</a:t>
            </a:r>
            <a:endParaRPr lang="en-US" sz="1400" dirty="0"/>
          </a:p>
        </p:txBody>
      </p:sp>
      <p:sp>
        <p:nvSpPr>
          <p:cNvPr id="8" name="card-78"/>
          <p:cNvSpPr/>
          <p:nvPr/>
        </p:nvSpPr>
        <p:spPr>
          <a:xfrm>
            <a:off x="548640" y="347472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58444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FA04A"/>
                </a:solidFill>
              </a:rPr>
              <a:t>93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36118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controlos do Anexo A, com aplicabilidade e justificação</a:t>
            </a:r>
            <a:endParaRPr lang="en-US" sz="1400" dirty="0"/>
          </a:p>
        </p:txBody>
      </p:sp>
      <p:sp>
        <p:nvSpPr>
          <p:cNvPr id="11" name="card-79"/>
          <p:cNvSpPr/>
          <p:nvPr/>
        </p:nvSpPr>
        <p:spPr>
          <a:xfrm>
            <a:off x="548640" y="46634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7731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92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48006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controlos ligados ao QNRCS pelo Reg. 756/2026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2860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766C"/>
                </a:solidFill>
              </a:rPr>
              <a:t>Como trabalhar (Biblioteca Legal › ISO/IEC 27001)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743200"/>
            <a:ext cx="6492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Cláusulas 4 a 6: âmbito, política, metodologia de riscos e objetivos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Avaliação e tratamento de riscos em Gestão de Risco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Anexo A: aplicável ou não, justificação e método de implementação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Exportar a Declaração de Aplicabilidade e aprová-la em Documentos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Evidências por controlo; as do RJC ligadas contam também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Análise de lacunas: sistema de gestão e controlos em separado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11827"/>
                </a:solidFill>
              </a:rPr>
              <a:t>Auditoria interna (9.2) e revisão pela gestão (9.3) antes da certificação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ISO/IEC 42001: gerir a inteligência artificial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474"/>
                </a:solidFill>
              </a:rPr>
              <a:t>Para quem desenvolve, fornece ou usa sistemas de IA. Guia em Biblioteca Legal › ISO/IEC 42001, com a mesma abordagem da 27001.</a:t>
            </a:r>
            <a:endParaRPr lang="en-US" sz="1500" dirty="0"/>
          </a:p>
        </p:txBody>
      </p:sp>
      <p:sp>
        <p:nvSpPr>
          <p:cNvPr id="4" name="card-80"/>
          <p:cNvSpPr/>
          <p:nvPr/>
        </p:nvSpPr>
        <p:spPr>
          <a:xfrm>
            <a:off x="548640" y="18288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3852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27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1965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requisitos (cláusulas 4 a 10), com a avaliação de impacto em 6.1.4 e 8.4</a:t>
            </a:r>
            <a:endParaRPr lang="en-US" sz="1400" dirty="0"/>
          </a:p>
        </p:txBody>
      </p:sp>
      <p:sp>
        <p:nvSpPr>
          <p:cNvPr id="7" name="card-81"/>
          <p:cNvSpPr/>
          <p:nvPr/>
        </p:nvSpPr>
        <p:spPr>
          <a:xfrm>
            <a:off x="548640" y="301752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070A13"/>
          </a:solidFill>
          <a:ln w="12700">
            <a:solidFill>
              <a:srgbClr val="070A1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12724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FA04A"/>
                </a:solidFill>
              </a:rPr>
              <a:t>38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31546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controlos do Anexo A em 9 domínios</a:t>
            </a:r>
            <a:endParaRPr lang="en-US" sz="1400" dirty="0"/>
          </a:p>
        </p:txBody>
      </p:sp>
      <p:sp>
        <p:nvSpPr>
          <p:cNvPr id="10" name="card-82"/>
          <p:cNvSpPr/>
          <p:nvPr/>
        </p:nvSpPr>
        <p:spPr>
          <a:xfrm>
            <a:off x="548640" y="42062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15968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70A13"/>
                </a:solidFill>
              </a:rPr>
              <a:t>33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43434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apoiam-se em requisitos da 27001; 5 são próprios da IA</a:t>
            </a:r>
            <a:endParaRPr lang="en-US" sz="1400" dirty="0"/>
          </a:p>
        </p:txBody>
      </p:sp>
      <p:sp>
        <p:nvSpPr>
          <p:cNvPr id="13" name="card-83"/>
          <p:cNvSpPr/>
          <p:nvPr/>
        </p:nvSpPr>
        <p:spPr>
          <a:xfrm>
            <a:off x="548640" y="5440680"/>
            <a:ext cx="4206240" cy="548640"/>
          </a:xfrm>
          <a:prstGeom prst="roundRect">
            <a:avLst>
              <a:gd name="adj" fmla="val 20000"/>
            </a:avLst>
          </a:prstGeom>
          <a:solidFill>
            <a:srgbClr val="F7F2E7"/>
          </a:solidFill>
          <a:ln w="12700">
            <a:solidFill>
              <a:srgbClr val="F7F2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4406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620"/>
                </a:solidFill>
              </a:rPr>
              <a:t>Não substitui o Regulamento (UE) 2024/1689.</a:t>
            </a:r>
            <a:endParaRPr lang="en-US" sz="1300" dirty="0"/>
          </a:p>
        </p:txBody>
      </p:sp>
      <p:sp>
        <p:nvSpPr>
          <p:cNvPr id="15" name="card-84"/>
          <p:cNvSpPr/>
          <p:nvPr/>
        </p:nvSpPr>
        <p:spPr>
          <a:xfrm>
            <a:off x="5120640" y="1828800"/>
            <a:ext cx="6492240" cy="4160520"/>
          </a:xfrm>
          <a:prstGeom prst="roundRect">
            <a:avLst>
              <a:gd name="adj" fmla="val 263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icon-bg-85"/>
          <p:cNvSpPr/>
          <p:nvPr/>
        </p:nvSpPr>
        <p:spPr>
          <a:xfrm>
            <a:off x="5394960" y="2057400"/>
            <a:ext cx="594360" cy="5943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con-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5719" y="2188159"/>
            <a:ext cx="332842" cy="332842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2148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Um só sistema de gestão com a 27001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834640"/>
            <a:ext cx="5943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Mesma análise de contexto, controlo documental, auditoria interna e revisão pela gestão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Cada controlo mostra os requisitos da 27001 de base e conta as evidências que já lá estão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Avaliação de impacto em pessoas e na sociedade: nova, sem equivalente na 27001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Declaração de Aplicabilidade separada para cada norma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Objetivos e fontes de risco do Anexo C como lista de apoio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Outros referenciais disponíveis na plataforma</a:t>
            </a:r>
            <a:endParaRPr lang="en-US" sz="3200" dirty="0"/>
          </a:p>
        </p:txBody>
      </p:sp>
      <p:sp>
        <p:nvSpPr>
          <p:cNvPr id="3" name="card-86"/>
          <p:cNvSpPr/>
          <p:nvPr/>
        </p:nvSpPr>
        <p:spPr>
          <a:xfrm>
            <a:off x="54864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QNRCS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756/2026, Anexo I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107 controlos em seis objetivos, com medida e verificação por nível</a:t>
            </a:r>
            <a:endParaRPr lang="en-US" sz="1300" dirty="0"/>
          </a:p>
        </p:txBody>
      </p:sp>
      <p:sp>
        <p:nvSpPr>
          <p:cNvPr id="7" name="card-87"/>
          <p:cNvSpPr/>
          <p:nvPr/>
        </p:nvSpPr>
        <p:spPr>
          <a:xfrm>
            <a:off x="429768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Requisitos técnicos NIS2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de Execução (UE) 2024/2690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161 requisitos para serviços digitais</a:t>
            </a:r>
            <a:endParaRPr lang="en-US" sz="1300" dirty="0"/>
          </a:p>
        </p:txBody>
      </p:sp>
      <p:sp>
        <p:nvSpPr>
          <p:cNvPr id="11" name="card-88"/>
          <p:cNvSpPr/>
          <p:nvPr/>
        </p:nvSpPr>
        <p:spPr>
          <a:xfrm>
            <a:off x="8046720" y="141732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DORA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756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Reg. (UE) 2022/2554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111 obrigações e prazos de incidentes para o setor financeiro</a:t>
            </a:r>
            <a:endParaRPr lang="en-US" sz="1300" dirty="0"/>
          </a:p>
        </p:txBody>
      </p:sp>
      <p:sp>
        <p:nvSpPr>
          <p:cNvPr id="15" name="card-89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TISAX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VDA ISA 6.0.3 e 2027.1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80 e 78 controlos para a indústria automóvel</a:t>
            </a:r>
            <a:endParaRPr lang="en-US" sz="1300" dirty="0"/>
          </a:p>
        </p:txBody>
      </p:sp>
      <p:sp>
        <p:nvSpPr>
          <p:cNvPr id="19" name="card-90"/>
          <p:cNvSpPr/>
          <p:nvPr/>
        </p:nvSpPr>
        <p:spPr>
          <a:xfrm>
            <a:off x="429768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CIS Controls v8.1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CIS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Identificadores; o texto entra com o ficheiro oficial da entidade</a:t>
            </a:r>
            <a:endParaRPr lang="en-US" sz="1300" dirty="0"/>
          </a:p>
        </p:txBody>
      </p:sp>
      <p:sp>
        <p:nvSpPr>
          <p:cNvPr id="23" name="card-91"/>
          <p:cNvSpPr/>
          <p:nvPr/>
        </p:nvSpPr>
        <p:spPr>
          <a:xfrm>
            <a:off x="8046720" y="3657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NIST CSF 2.0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7766C"/>
                </a:solidFill>
              </a:rPr>
              <a:t>NIST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4"/>
                </a:solidFill>
              </a:rPr>
              <a:t>Correspondências a partir do QNRCS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9436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4"/>
                </a:solidFill>
              </a:rPr>
              <a:t>Biblioteca Legal › Relações entre referenciais mostra as correspondências (1338 ligações) para reaproveitar evidências.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Os primeiros 90 dias</a:t>
            </a:r>
            <a:endParaRPr lang="en-US" sz="3200" dirty="0"/>
          </a:p>
        </p:txBody>
      </p:sp>
      <p:sp>
        <p:nvSpPr>
          <p:cNvPr id="3" name="linha-90"/>
          <p:cNvSpPr/>
          <p:nvPr/>
        </p:nvSpPr>
        <p:spPr>
          <a:xfrm>
            <a:off x="822960" y="2057400"/>
            <a:ext cx="10515600" cy="0"/>
          </a:xfrm>
          <a:prstGeom prst="line">
            <a:avLst/>
          </a:prstGeom>
          <a:noFill/>
          <a:ln w="25400">
            <a:solidFill>
              <a:srgbClr val="DDE2EA"/>
            </a:solidFill>
            <a:prstDash val="solid"/>
          </a:ln>
        </p:spPr>
      </p:sp>
      <p:sp>
        <p:nvSpPr>
          <p:cNvPr id="4" name="fase-0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Semana 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Conta, enquadramento e equipa convidada</a:t>
            </a:r>
            <a:endParaRPr lang="en-US" sz="1400" dirty="0"/>
          </a:p>
        </p:txBody>
      </p:sp>
      <p:sp>
        <p:nvSpPr>
          <p:cNvPr id="7" name="fase-1"/>
          <p:cNvSpPr/>
          <p:nvPr/>
        </p:nvSpPr>
        <p:spPr>
          <a:xfrm>
            <a:off x="342900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Semanas 2 a 4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Responsável e ponto de contacto; autoidentificação; primeira avaliação NIS2 e ISO</a:t>
            </a:r>
            <a:endParaRPr lang="en-US" sz="1400" dirty="0"/>
          </a:p>
        </p:txBody>
      </p:sp>
      <p:sp>
        <p:nvSpPr>
          <p:cNvPr id="10" name="fase-2"/>
          <p:cNvSpPr/>
          <p:nvPr/>
        </p:nvSpPr>
        <p:spPr>
          <a:xfrm>
            <a:off x="6217920" y="1828800"/>
            <a:ext cx="457200" cy="457200"/>
          </a:xfrm>
          <a:prstGeom prst="ellipse">
            <a:avLst/>
          </a:prstGeom>
          <a:solidFill>
            <a:srgbClr val="070A1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Mês 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Políticas aprovadas; inventário de ativos e de sistemas de IA; documentos carregados em Por classificar</a:t>
            </a:r>
            <a:endParaRPr lang="en-US" sz="1400" dirty="0"/>
          </a:p>
        </p:txBody>
      </p:sp>
      <p:sp>
        <p:nvSpPr>
          <p:cNvPr id="13" name="fase-3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CFA04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25146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70A13"/>
                </a:solidFill>
              </a:rPr>
              <a:t>Mês 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97180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4"/>
                </a:solidFill>
              </a:rPr>
              <a:t>Medidas com evidências; Declarações de Aplicabilidade; incidentes testados; plano revisto</a:t>
            </a:r>
            <a:endParaRPr lang="en-US" sz="1400" dirty="0"/>
          </a:p>
        </p:txBody>
      </p:sp>
      <p:sp>
        <p:nvSpPr>
          <p:cNvPr id="16" name="card-92"/>
          <p:cNvSpPr/>
          <p:nvPr/>
        </p:nvSpPr>
        <p:spPr>
          <a:xfrm>
            <a:off x="548640" y="46634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6F5F3"/>
          </a:solidFill>
          <a:ln w="12700">
            <a:solidFill>
              <a:srgbClr val="E6F5F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800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766C"/>
                </a:solidFill>
              </a:rPr>
              <a:t>Depois do arranque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827"/>
                </a:solidFill>
              </a:rPr>
              <a:t>Revisão trimestral da maturidade, análise anual dos riscos, lembretes de revisão de documentos e preparação do relatório anual.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731520" y="2468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</a:rPr>
              <a:t>PRÓXIMO PASSO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73152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Marcar a reunião de criação da conta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1605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Traga a informação da secção 2 do manual de onboarding. Guias de implementação: NIS2, ISO/IEC 27001 e ISO/IEC 42001.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CFDA"/>
                </a:solidFill>
              </a:rPr>
              <a:t>app.ankoraone.com  ·  daniel.carvalho@ankoraone.com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koraOne">
  <a:themeElements>
    <a:clrScheme name="AnkoraOne">
      <a:dk1>
        <a:srgbClr val="070A13"/>
      </a:dk1>
      <a:lt1>
        <a:srgbClr val="FFFFFF"/>
      </a:lt1>
      <a:dk2>
        <a:srgbClr val="0C111D"/>
      </a:dk2>
      <a:lt2>
        <a:srgbClr val="F3F5F8"/>
      </a:lt2>
      <a:accent1>
        <a:srgbClr val="CFA04A"/>
      </a:accent1>
      <a:accent2>
        <a:srgbClr val="26A699"/>
      </a:accent2>
      <a:accent3>
        <a:srgbClr val="2B3550"/>
      </a:accent3>
      <a:accent4>
        <a:srgbClr val="E8B04B"/>
      </a:accent4>
      <a:accent5>
        <a:srgbClr val="5B6474"/>
      </a:accent5>
      <a:accent6>
        <a:srgbClr val="D9534F"/>
      </a:accent6>
      <a:hlink>
        <a:srgbClr val="26A699"/>
      </a:hlink>
      <a:folHlink>
        <a:srgbClr val="CFA04A"/>
      </a:folHlink>
    </a:clrScheme>
    <a:fontScheme name="AnkoraOn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AnkoraOne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AnkoraOne — Onboarding de novos clientes</dc:title>
  <dc:subject>PptxGenJS Presentation</dc:subject>
  <dc:creator>AnkoraOne</dc:creator>
  <cp:lastModifiedBy>AnkoraOne</cp:lastModifiedBy>
  <cp:revision>1</cp:revision>
  <dcterms:created xsi:type="dcterms:W3CDTF">2026-10-27T00:06:43Z</dcterms:created>
  <dcterms:modified xsi:type="dcterms:W3CDTF">2026-10-27T00:06:43Z</dcterms:modified>
</cp:coreProperties>
</file>